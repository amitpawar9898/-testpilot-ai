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Our project is TestPilot AI, an agentic software testing and bug-detection platform for Python modules. It coordinates a bounded sequence of specialized agents, records what each did, and reports the evidence it actually collected. The system keeps the original file untouched and can propose a verified patch. I will cover the problem, the agent workflow, the architecture, and measured results from the three bundled samples. Please replace the team and course placeholders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feedback speed and coverage. A developer may know the intended behavior but not have time to explore every boundary or invalid input. A generator can help, but it must distinguish examples with explicit expected values from heuristic robustness checks. TestPilot AI takes Python source and optional requirements, then returns generated cases, observed outcomes, findings, and possibly a patch. The chosen domain fits a multi-agent workflow because planning, analysis, test design, execution, review, repair, and reporting have clear responsibilities and evidence boundaries.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repository already had the domain workflow and the seven-agent core in a Streamlit application. The CA-3 work preserves the domain logic while adding a React and TypeScript frontend, a typed FastAPI boundary, and live route and browser verification. The API contract is checked against all 54 method and path operations, and the browser flow exercises registration, sign-in, sample analysis, fix review, downloads, and reports. This is an extension around the existing system rather than a new QA engine invented for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 is explicit in the orchestrator. Planner checks objective and tool availability. Code Analysis parses the module and produces static findings. Test Generation combines deterministic cases with requirement examples and doctests. Test Execution runs them through the configured runner. The Critic separates confirmed failures from heuristic evidence and can ask for a bounded follow-up cycle. Fix evaluates candidate changes against the same tests, and Reporting persists the merged evidence. Tool calls include names, summaries, results, success state, and duration, so this is inspectable cooperation rather than an opaque agent chat.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follows the running implementation. The browser uses React and the Vite development proxy to call FastAPI. The API validates and authorizes requests, records run state, then dispatches work to a background worker. The orchestrator shares structured state among the seven agents and invokes domain tools. SQLite stores run and account evidence. Reports and downloads return through typed API routes. Docker is the recommended code-execution boundary; local trusted mode is explicitly not a sandbox. The optional model adapter is separate and requires configuration and consent for remote 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screenshot is from the running React application during the browser end-to-end flow. In a live demo, open Fix my code, load the planted-bug sample, and run the analysis. Show the generated tests and findings, then inspect the Auto-Fix diff and download the report. The browser test also verified registration, explicit sign-out and sign-in, downloads, and the agent monitor. No API key was entered, and the sample workflow used the built-in deterministic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measured results from real Orchestrator.start runs, using the supplied requirements files and local trusted execution on bundled samples. Across 245 generated cases, passing outcomes increased from 223 to 239 after 12 accepted fixes. The fix agent reported zero regressions. Two failed assertions and four errors remained, so this is not a claim that all defects were fixed. The dataset contains only three intentionally buggy samples; it is too small to support a general accuracy claim. Future scope includes a larger independent corpus, Docker evaluation, CI integration, MCP-backed tools, more languages, and an optional LangGraph comparison. The exact settings, findings, timings, and limitations are documented in the validation report and JSON artifact.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TestPilot AI demonstrates a complete evidence path from source to report, with a bounded workflow, explicit oracle quality, and patch verification. The browser and endpoint checks cover the client-to-service integration, while the three sample runs show actual before and after outcomes. The main next step is evaluation on a larger, independently selected corpus and validation under the recommended Docker isolation mode. We should continue to report unresolved cases and avoid treating heuristic success as proof. Thank you; I am ready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731520"/>
            <a:ext cx="118872" cy="4434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960120"/>
            <a:ext cx="9601200" cy="365760"/>
          </a:xfrm>
          <a:prstGeom prst="rect">
            <a:avLst/>
          </a:prstGeom>
          <a:noFill/>
        </p:spPr>
        <p:txBody>
          <a:bodyPr wrap="square" lIns="27432" rIns="27432" tIns="18288" bIns="9144">
            <a:spAutoFit/>
          </a:bodyPr>
          <a:lstStyle/>
          <a:p>
            <a:pPr>
              <a:spcAft>
                <a:spcPts val="900"/>
              </a:spcAft>
              <a:defRPr sz="1300" b="1">
                <a:solidFill>
                  <a:srgbClr val="5EEAD4"/>
                </a:solidFill>
                <a:latin typeface="Aptos"/>
              </a:defRPr>
            </a:pPr>
            <a:r>
              <a:t>CA-3 · AGENTIC SYSTEMS</a:t>
            </a:r>
          </a:p>
        </p:txBody>
      </p:sp>
      <p:sp>
        <p:nvSpPr>
          <p:cNvPr id="4" name="TextBox 3"/>
          <p:cNvSpPr txBox="1"/>
          <p:nvPr/>
        </p:nvSpPr>
        <p:spPr>
          <a:xfrm>
            <a:off x="1143000" y="1691640"/>
            <a:ext cx="9875520" cy="1143000"/>
          </a:xfrm>
          <a:prstGeom prst="rect">
            <a:avLst/>
          </a:prstGeom>
          <a:noFill/>
        </p:spPr>
        <p:txBody>
          <a:bodyPr wrap="square" lIns="27432" rIns="27432" tIns="18288" bIns="9144">
            <a:spAutoFit/>
          </a:bodyPr>
          <a:lstStyle/>
          <a:p>
            <a:pPr>
              <a:spcAft>
                <a:spcPts val="900"/>
              </a:spcAft>
              <a:defRPr sz="4000" b="1">
                <a:solidFill>
                  <a:srgbClr val="FFFFFF"/>
                </a:solidFill>
                <a:latin typeface="Aptos"/>
              </a:defRPr>
            </a:pPr>
            <a:r>
              <a:t>TestPilot AI</a:t>
            </a:r>
          </a:p>
        </p:txBody>
      </p:sp>
      <p:sp>
        <p:nvSpPr>
          <p:cNvPr id="5" name="TextBox 4"/>
          <p:cNvSpPr txBox="1"/>
          <p:nvPr/>
        </p:nvSpPr>
        <p:spPr>
          <a:xfrm>
            <a:off x="1161288" y="2788920"/>
            <a:ext cx="9326880" cy="960120"/>
          </a:xfrm>
          <a:prstGeom prst="rect">
            <a:avLst/>
          </a:prstGeom>
          <a:noFill/>
        </p:spPr>
        <p:txBody>
          <a:bodyPr wrap="square" lIns="27432" rIns="27432" tIns="18288" bIns="9144">
            <a:spAutoFit/>
          </a:bodyPr>
          <a:lstStyle/>
          <a:p>
            <a:pPr>
              <a:spcAft>
                <a:spcPts val="900"/>
              </a:spcAft>
              <a:defRPr sz="2500" b="0">
                <a:solidFill>
                  <a:srgbClr val="CBD5E1"/>
                </a:solidFill>
                <a:latin typeface="Aptos"/>
              </a:defRPr>
            </a:pPr>
            <a:r>
              <a:t>Agentic software testing</a:t>
            </a:r>
          </a:p>
          <a:p>
            <a:pPr>
              <a:spcAft>
                <a:spcPts val="900"/>
              </a:spcAft>
              <a:defRPr sz="2500" b="0">
                <a:solidFill>
                  <a:srgbClr val="CBD5E1"/>
                </a:solidFill>
                <a:latin typeface="Aptos"/>
              </a:defRPr>
            </a:pPr>
            <a:r>
              <a:t>and bug detection</a:t>
            </a:r>
          </a:p>
        </p:txBody>
      </p:sp>
      <p:sp>
        <p:nvSpPr>
          <p:cNvPr id="6" name="Rounded Rectangle 5"/>
          <p:cNvSpPr/>
          <p:nvPr/>
        </p:nvSpPr>
        <p:spPr>
          <a:xfrm>
            <a:off x="1161288" y="4297680"/>
            <a:ext cx="3977639" cy="530352"/>
          </a:xfrm>
          <a:prstGeom prst="roundRect">
            <a:avLst>
              <a:gd name="adj" fmla="val 1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44168" y="4416552"/>
            <a:ext cx="3611880" cy="256032"/>
          </a:xfrm>
          <a:prstGeom prst="rect">
            <a:avLst/>
          </a:prstGeom>
          <a:noFill/>
        </p:spPr>
        <p:txBody>
          <a:bodyPr wrap="square" lIns="27432" rIns="27432" tIns="18288" bIns="9144">
            <a:spAutoFit/>
          </a:bodyPr>
          <a:lstStyle/>
          <a:p>
            <a:pPr>
              <a:spcAft>
                <a:spcPts val="900"/>
              </a:spcAft>
              <a:defRPr sz="1200" b="0">
                <a:solidFill>
                  <a:srgbClr val="FFFFFF"/>
                </a:solidFill>
                <a:latin typeface="Aptos"/>
              </a:defRPr>
            </a:pPr>
            <a:r>
              <a:t>Team: [Add team names]  ·  [Course / date]</a:t>
            </a:r>
          </a:p>
        </p:txBody>
      </p:sp>
      <p:sp>
        <p:nvSpPr>
          <p:cNvPr id="8" name="TextBox 7"/>
          <p:cNvSpPr txBox="1"/>
          <p:nvPr/>
        </p:nvSpPr>
        <p:spPr>
          <a:xfrm>
            <a:off x="1161288" y="6217920"/>
            <a:ext cx="7315200" cy="228600"/>
          </a:xfrm>
          <a:prstGeom prst="rect">
            <a:avLst/>
          </a:prstGeom>
          <a:noFill/>
        </p:spPr>
        <p:txBody>
          <a:bodyPr wrap="square" lIns="27432" rIns="27432" tIns="18288" bIns="9144">
            <a:spAutoFit/>
          </a:bodyPr>
          <a:lstStyle/>
          <a:p>
            <a:pPr>
              <a:spcAft>
                <a:spcPts val="900"/>
              </a:spcAft>
              <a:defRPr sz="1200" b="0">
                <a:solidFill>
                  <a:srgbClr val="94A3B8"/>
                </a:solidFill>
                <a:latin typeface="Aptos"/>
              </a:defRPr>
            </a:pPr>
            <a:r>
              <a:t>Python · FastAPI · React · SQLite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256032"/>
            <a:ext cx="9601200" cy="256032"/>
          </a:xfrm>
          <a:prstGeom prst="rect">
            <a:avLst/>
          </a:prstGeom>
          <a:noFill/>
        </p:spPr>
        <p:txBody>
          <a:bodyPr wrap="square" lIns="27432" rIns="27432" tIns="18288" bIns="9144">
            <a:spAutoFit/>
          </a:bodyPr>
          <a:lstStyle/>
          <a:p>
            <a:pPr>
              <a:spcAft>
                <a:spcPts val="900"/>
              </a:spcAft>
              <a:defRPr sz="1000" b="1">
                <a:solidFill>
                  <a:srgbClr val="0D9488"/>
                </a:solidFill>
                <a:latin typeface="Aptos"/>
              </a:defRPr>
            </a:pPr>
            <a:r>
              <a:t>PROBLEM AND DOMAIN</a:t>
            </a:r>
          </a:p>
        </p:txBody>
      </p:sp>
      <p:sp>
        <p:nvSpPr>
          <p:cNvPr id="3" name="TextBox 2"/>
          <p:cNvSpPr txBox="1"/>
          <p:nvPr/>
        </p:nvSpPr>
        <p:spPr>
          <a:xfrm>
            <a:off x="566928" y="576072"/>
            <a:ext cx="10972800" cy="594360"/>
          </a:xfrm>
          <a:prstGeom prst="rect">
            <a:avLst/>
          </a:prstGeom>
          <a:noFill/>
        </p:spPr>
        <p:txBody>
          <a:bodyPr wrap="square" lIns="27432" rIns="27432" tIns="18288" bIns="9144">
            <a:spAutoFit/>
          </a:bodyPr>
          <a:lstStyle/>
          <a:p>
            <a:pPr>
              <a:spcAft>
                <a:spcPts val="900"/>
              </a:spcAft>
              <a:defRPr sz="2800" b="1">
                <a:solidFill>
                  <a:srgbClr val="0F172A"/>
                </a:solidFill>
                <a:latin typeface="Aptos"/>
              </a:defRPr>
            </a:pPr>
            <a:r>
              <a:t>The testing gap</a:t>
            </a:r>
          </a:p>
        </p:txBody>
      </p:sp>
      <p:sp>
        <p:nvSpPr>
          <p:cNvPr id="4" name="Rectangle 3"/>
          <p:cNvSpPr/>
          <p:nvPr/>
        </p:nvSpPr>
        <p:spPr>
          <a:xfrm>
            <a:off x="566928" y="1280160"/>
            <a:ext cx="1101852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0" y="6510528"/>
            <a:ext cx="411480" cy="182880"/>
          </a:xfrm>
          <a:prstGeom prst="rect">
            <a:avLst/>
          </a:prstGeom>
          <a:noFill/>
        </p:spPr>
        <p:txBody>
          <a:bodyPr wrap="square" lIns="27432" rIns="27432" tIns="18288" bIns="9144">
            <a:spAutoFit/>
          </a:bodyPr>
          <a:lstStyle/>
          <a:p>
            <a:pPr algn="r">
              <a:spcAft>
                <a:spcPts val="900"/>
              </a:spcAft>
              <a:defRPr sz="900" b="1">
                <a:solidFill>
                  <a:srgbClr val="475569"/>
                </a:solidFill>
                <a:latin typeface="Aptos"/>
              </a:defRPr>
            </a:pPr>
            <a:r>
              <a:t>02</a:t>
            </a:r>
          </a:p>
        </p:txBody>
      </p:sp>
      <p:sp>
        <p:nvSpPr>
          <p:cNvPr id="6" name="Rounded Rectangle 5"/>
          <p:cNvSpPr/>
          <p:nvPr/>
        </p:nvSpPr>
        <p:spPr>
          <a:xfrm>
            <a:off x="685800" y="1645920"/>
            <a:ext cx="5257800" cy="4251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01952"/>
            <a:ext cx="4663440" cy="384048"/>
          </a:xfrm>
          <a:prstGeom prst="rect">
            <a:avLst/>
          </a:prstGeom>
          <a:noFill/>
        </p:spPr>
        <p:txBody>
          <a:bodyPr wrap="square" lIns="27432" rIns="27432" tIns="18288" bIns="9144">
            <a:spAutoFit/>
          </a:bodyPr>
          <a:lstStyle/>
          <a:p>
            <a:pPr>
              <a:spcAft>
                <a:spcPts val="900"/>
              </a:spcAft>
              <a:defRPr sz="1900" b="1">
                <a:solidFill>
                  <a:srgbClr val="0F172A"/>
                </a:solidFill>
                <a:latin typeface="Aptos"/>
              </a:defRPr>
            </a:pPr>
            <a:r>
              <a:t>Why this matters</a:t>
            </a:r>
          </a:p>
        </p:txBody>
      </p:sp>
      <p:sp>
        <p:nvSpPr>
          <p:cNvPr id="8" name="TextBox 7"/>
          <p:cNvSpPr txBox="1"/>
          <p:nvPr/>
        </p:nvSpPr>
        <p:spPr>
          <a:xfrm>
            <a:off x="960120" y="2487168"/>
            <a:ext cx="4617720" cy="2103120"/>
          </a:xfrm>
          <a:prstGeom prst="rect">
            <a:avLst/>
          </a:prstGeom>
          <a:noFill/>
        </p:spPr>
        <p:txBody>
          <a:bodyPr wrap="square" lIns="27432" rIns="27432" tIns="18288" bIns="9144">
            <a:spAutoFit/>
          </a:bodyPr>
          <a:lstStyle/>
          <a:p>
            <a:pPr>
              <a:spcAft>
                <a:spcPts val="900"/>
              </a:spcAft>
              <a:defRPr sz="1800" b="0">
                <a:solidFill>
                  <a:srgbClr val="1E293B"/>
                </a:solidFill>
                <a:latin typeface="Aptos"/>
              </a:defRPr>
            </a:pPr>
            <a:r>
              <a:t>• Edge cases are easy to miss</a:t>
            </a:r>
          </a:p>
          <a:p>
            <a:pPr>
              <a:spcAft>
                <a:spcPts val="900"/>
              </a:spcAft>
              <a:defRPr sz="1800" b="0">
                <a:solidFill>
                  <a:srgbClr val="1E293B"/>
                </a:solidFill>
                <a:latin typeface="Aptos"/>
              </a:defRPr>
            </a:pPr>
            <a:r>
              <a:t>• Test writing takes focused time</a:t>
            </a:r>
          </a:p>
          <a:p>
            <a:pPr>
              <a:spcAft>
                <a:spcPts val="900"/>
              </a:spcAft>
              <a:defRPr sz="1800" b="0">
                <a:solidFill>
                  <a:srgbClr val="1E293B"/>
                </a:solidFill>
                <a:latin typeface="Aptos"/>
              </a:defRPr>
            </a:pPr>
            <a:r>
              <a:t>• Generated tests need trustworthy expectations</a:t>
            </a:r>
          </a:p>
          <a:p>
            <a:pPr>
              <a:spcAft>
                <a:spcPts val="900"/>
              </a:spcAft>
              <a:defRPr sz="1800" b="0">
                <a:solidFill>
                  <a:srgbClr val="1E293B"/>
                </a:solidFill>
                <a:latin typeface="Aptos"/>
              </a:defRPr>
            </a:pPr>
            <a:r>
              <a:t>• A suggested fix must not silently break passing behavior</a:t>
            </a:r>
          </a:p>
        </p:txBody>
      </p:sp>
      <p:sp>
        <p:nvSpPr>
          <p:cNvPr id="9" name="Rounded Rectangle 8"/>
          <p:cNvSpPr/>
          <p:nvPr/>
        </p:nvSpPr>
        <p:spPr>
          <a:xfrm>
            <a:off x="6263640" y="1645920"/>
            <a:ext cx="5230368" cy="4251960"/>
          </a:xfrm>
          <a:prstGeom prst="roundRect">
            <a:avLst>
              <a:gd name="adj" fmla="val 12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901952"/>
            <a:ext cx="4480560" cy="384048"/>
          </a:xfrm>
          <a:prstGeom prst="rect">
            <a:avLst/>
          </a:prstGeom>
          <a:noFill/>
        </p:spPr>
        <p:txBody>
          <a:bodyPr wrap="square" lIns="27432" rIns="27432" tIns="18288" bIns="9144">
            <a:spAutoFit/>
          </a:bodyPr>
          <a:lstStyle/>
          <a:p>
            <a:pPr>
              <a:spcAft>
                <a:spcPts val="900"/>
              </a:spcAft>
              <a:defRPr sz="1900" b="1">
                <a:solidFill>
                  <a:srgbClr val="0F172A"/>
                </a:solidFill>
                <a:latin typeface="Aptos"/>
              </a:defRPr>
            </a:pPr>
            <a:r>
              <a:t>Chosen domain: Python QA</a:t>
            </a:r>
          </a:p>
        </p:txBody>
      </p:sp>
      <p:sp>
        <p:nvSpPr>
          <p:cNvPr id="11" name="TextBox 10"/>
          <p:cNvSpPr txBox="1"/>
          <p:nvPr/>
        </p:nvSpPr>
        <p:spPr>
          <a:xfrm>
            <a:off x="6583680" y="2487168"/>
            <a:ext cx="4389120" cy="2103120"/>
          </a:xfrm>
          <a:prstGeom prst="rect">
            <a:avLst/>
          </a:prstGeom>
          <a:noFill/>
        </p:spPr>
        <p:txBody>
          <a:bodyPr wrap="square" lIns="27432" rIns="27432" tIns="18288" bIns="9144">
            <a:spAutoFit/>
          </a:bodyPr>
          <a:lstStyle/>
          <a:p>
            <a:pPr>
              <a:spcAft>
                <a:spcPts val="900"/>
              </a:spcAft>
              <a:defRPr sz="1900" b="0">
                <a:solidFill>
                  <a:srgbClr val="1E293B"/>
                </a:solidFill>
                <a:latin typeface="Aptos"/>
              </a:defRPr>
            </a:pPr>
            <a:r>
              <a:t>Input: source + requirements</a:t>
            </a:r>
          </a:p>
          <a:p>
            <a:pPr>
              <a:spcAft>
                <a:spcPts val="900"/>
              </a:spcAft>
              <a:defRPr sz="1900" b="0">
                <a:solidFill>
                  <a:srgbClr val="1E293B"/>
                </a:solidFill>
                <a:latin typeface="Aptos"/>
              </a:defRPr>
            </a:pPr>
            <a:r>
              <a:t>Process: analyze → test → review</a:t>
            </a:r>
          </a:p>
          <a:p>
            <a:pPr>
              <a:spcAft>
                <a:spcPts val="900"/>
              </a:spcAft>
              <a:defRPr sz="1900" b="0">
                <a:solidFill>
                  <a:srgbClr val="1E293B"/>
                </a:solidFill>
                <a:latin typeface="Aptos"/>
              </a:defRPr>
            </a:pPr>
            <a:r>
              <a:t>Output: evidence + findings + patch diff</a:t>
            </a:r>
          </a:p>
        </p:txBody>
      </p:sp>
      <p:sp>
        <p:nvSpPr>
          <p:cNvPr id="12" name="TextBox 11"/>
          <p:cNvSpPr txBox="1"/>
          <p:nvPr/>
        </p:nvSpPr>
        <p:spPr>
          <a:xfrm>
            <a:off x="6583680" y="4937760"/>
            <a:ext cx="4343400" cy="640080"/>
          </a:xfrm>
          <a:prstGeom prst="rect">
            <a:avLst/>
          </a:prstGeom>
          <a:noFill/>
        </p:spPr>
        <p:txBody>
          <a:bodyPr wrap="square" lIns="27432" rIns="27432" tIns="18288" bIns="9144">
            <a:spAutoFit/>
          </a:bodyPr>
          <a:lstStyle/>
          <a:p>
            <a:pPr>
              <a:spcAft>
                <a:spcPts val="900"/>
              </a:spcAft>
              <a:defRPr sz="1500" b="1">
                <a:solidFill>
                  <a:srgbClr val="0D9488"/>
                </a:solidFill>
                <a:latin typeface="Aptos"/>
              </a:defRPr>
            </a:pPr>
            <a:r>
              <a:t>Design rule: make test status and oracle quality explicit.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256032"/>
            <a:ext cx="9601200" cy="256032"/>
          </a:xfrm>
          <a:prstGeom prst="rect">
            <a:avLst/>
          </a:prstGeom>
          <a:noFill/>
        </p:spPr>
        <p:txBody>
          <a:bodyPr wrap="square" lIns="27432" rIns="27432" tIns="18288" bIns="9144">
            <a:spAutoFit/>
          </a:bodyPr>
          <a:lstStyle/>
          <a:p>
            <a:pPr>
              <a:spcAft>
                <a:spcPts val="900"/>
              </a:spcAft>
              <a:defRPr sz="1000" b="1">
                <a:solidFill>
                  <a:srgbClr val="0D9488"/>
                </a:solidFill>
                <a:latin typeface="Aptos"/>
              </a:defRPr>
            </a:pPr>
            <a:r>
              <a:t>EXISTING CHALLENGE → PROPOSAL</a:t>
            </a:r>
          </a:p>
        </p:txBody>
      </p:sp>
      <p:sp>
        <p:nvSpPr>
          <p:cNvPr id="3" name="TextBox 2"/>
          <p:cNvSpPr txBox="1"/>
          <p:nvPr/>
        </p:nvSpPr>
        <p:spPr>
          <a:xfrm>
            <a:off x="566928" y="576072"/>
            <a:ext cx="10972800" cy="594360"/>
          </a:xfrm>
          <a:prstGeom prst="rect">
            <a:avLst/>
          </a:prstGeom>
          <a:noFill/>
        </p:spPr>
        <p:txBody>
          <a:bodyPr wrap="square" lIns="27432" rIns="27432" tIns="18288" bIns="9144">
            <a:spAutoFit/>
          </a:bodyPr>
          <a:lstStyle/>
          <a:p>
            <a:pPr>
              <a:spcAft>
                <a:spcPts val="900"/>
              </a:spcAft>
              <a:defRPr sz="2800" b="1">
                <a:solidFill>
                  <a:srgbClr val="0F172A"/>
                </a:solidFill>
                <a:latin typeface="Aptos"/>
              </a:defRPr>
            </a:pPr>
            <a:r>
              <a:t>From single app to contract-driven system</a:t>
            </a:r>
          </a:p>
        </p:txBody>
      </p:sp>
      <p:sp>
        <p:nvSpPr>
          <p:cNvPr id="4" name="Rectangle 3"/>
          <p:cNvSpPr/>
          <p:nvPr/>
        </p:nvSpPr>
        <p:spPr>
          <a:xfrm>
            <a:off x="566928" y="1280160"/>
            <a:ext cx="1101852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0" y="6510528"/>
            <a:ext cx="411480" cy="182880"/>
          </a:xfrm>
          <a:prstGeom prst="rect">
            <a:avLst/>
          </a:prstGeom>
          <a:noFill/>
        </p:spPr>
        <p:txBody>
          <a:bodyPr wrap="square" lIns="27432" rIns="27432" tIns="18288" bIns="9144">
            <a:spAutoFit/>
          </a:bodyPr>
          <a:lstStyle/>
          <a:p>
            <a:pPr algn="r">
              <a:spcAft>
                <a:spcPts val="900"/>
              </a:spcAft>
              <a:defRPr sz="900" b="1">
                <a:solidFill>
                  <a:srgbClr val="475569"/>
                </a:solidFill>
                <a:latin typeface="Aptos"/>
              </a:defRPr>
            </a:pPr>
            <a:r>
              <a:t>03</a:t>
            </a:r>
          </a:p>
        </p:txBody>
      </p:sp>
      <p:sp>
        <p:nvSpPr>
          <p:cNvPr id="6" name="Rounded Rectangle 5"/>
          <p:cNvSpPr/>
          <p:nvPr/>
        </p:nvSpPr>
        <p:spPr>
          <a:xfrm>
            <a:off x="713232" y="1691640"/>
            <a:ext cx="5120640" cy="4297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55080" y="1691640"/>
            <a:ext cx="5120640" cy="4297680"/>
          </a:xfrm>
          <a:prstGeom prst="roundRect">
            <a:avLst>
              <a:gd name="adj" fmla="val 12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1965960"/>
            <a:ext cx="4480560" cy="384048"/>
          </a:xfrm>
          <a:prstGeom prst="rect">
            <a:avLst/>
          </a:prstGeom>
          <a:noFill/>
        </p:spPr>
        <p:txBody>
          <a:bodyPr wrap="square" lIns="27432" rIns="27432" tIns="18288" bIns="9144">
            <a:spAutoFit/>
          </a:bodyPr>
          <a:lstStyle/>
          <a:p>
            <a:pPr>
              <a:spcAft>
                <a:spcPts val="900"/>
              </a:spcAft>
              <a:defRPr sz="1800" b="1">
                <a:solidFill>
                  <a:srgbClr val="0F172A"/>
                </a:solidFill>
                <a:latin typeface="Aptos"/>
              </a:defRPr>
            </a:pPr>
            <a:r>
              <a:t>Repository foundation</a:t>
            </a:r>
          </a:p>
        </p:txBody>
      </p:sp>
      <p:sp>
        <p:nvSpPr>
          <p:cNvPr id="9" name="TextBox 8"/>
          <p:cNvSpPr txBox="1"/>
          <p:nvPr/>
        </p:nvSpPr>
        <p:spPr>
          <a:xfrm>
            <a:off x="1024128" y="2560320"/>
            <a:ext cx="4389120" cy="2423160"/>
          </a:xfrm>
          <a:prstGeom prst="rect">
            <a:avLst/>
          </a:prstGeom>
          <a:noFill/>
        </p:spPr>
        <p:txBody>
          <a:bodyPr wrap="square" lIns="27432" rIns="27432" tIns="18288" bIns="9144">
            <a:spAutoFit/>
          </a:bodyPr>
          <a:lstStyle/>
          <a:p>
            <a:pPr>
              <a:spcAft>
                <a:spcPts val="900"/>
              </a:spcAft>
              <a:defRPr sz="1700" b="0">
                <a:solidFill>
                  <a:srgbClr val="1E293B"/>
                </a:solidFill>
                <a:latin typeface="Aptos"/>
              </a:defRPr>
            </a:pPr>
            <a:r>
              <a:t>Streamlit UI</a:t>
            </a:r>
          </a:p>
          <a:p>
            <a:pPr>
              <a:spcAft>
                <a:spcPts val="900"/>
              </a:spcAft>
              <a:defRPr sz="1700" b="0">
                <a:solidFill>
                  <a:srgbClr val="1E293B"/>
                </a:solidFill>
                <a:latin typeface="Aptos"/>
              </a:defRPr>
            </a:pPr>
            <a:r>
              <a:t>Shared orchestration core</a:t>
            </a:r>
          </a:p>
          <a:p>
            <a:pPr>
              <a:spcAft>
                <a:spcPts val="900"/>
              </a:spcAft>
              <a:defRPr sz="1700" b="0">
                <a:solidFill>
                  <a:srgbClr val="1E293B"/>
                </a:solidFill>
                <a:latin typeface="Aptos"/>
              </a:defRPr>
            </a:pPr>
            <a:r>
              <a:t>SQLite persistence</a:t>
            </a:r>
          </a:p>
          <a:p>
            <a:pPr>
              <a:spcAft>
                <a:spcPts val="900"/>
              </a:spcAft>
              <a:defRPr sz="1700" b="0">
                <a:solidFill>
                  <a:srgbClr val="1E293B"/>
                </a:solidFill>
                <a:latin typeface="Aptos"/>
              </a:defRPr>
            </a:pPr>
            <a:r>
              <a:t>Sandbox-aware runner</a:t>
            </a:r>
          </a:p>
          <a:p>
            <a:pPr>
              <a:spcAft>
                <a:spcPts val="900"/>
              </a:spcAft>
              <a:defRPr sz="1700" b="0">
                <a:solidFill>
                  <a:srgbClr val="1E293B"/>
                </a:solidFill>
                <a:latin typeface="Aptos"/>
              </a:defRPr>
            </a:pPr>
            <a:r>
              <a:t>Fix proposal and report tools</a:t>
            </a:r>
          </a:p>
        </p:txBody>
      </p:sp>
      <p:sp>
        <p:nvSpPr>
          <p:cNvPr id="10" name="TextBox 9"/>
          <p:cNvSpPr txBox="1"/>
          <p:nvPr/>
        </p:nvSpPr>
        <p:spPr>
          <a:xfrm>
            <a:off x="6656832" y="1965960"/>
            <a:ext cx="4480560" cy="384048"/>
          </a:xfrm>
          <a:prstGeom prst="rect">
            <a:avLst/>
          </a:prstGeom>
          <a:noFill/>
        </p:spPr>
        <p:txBody>
          <a:bodyPr wrap="square" lIns="27432" rIns="27432" tIns="18288" bIns="9144">
            <a:spAutoFit/>
          </a:bodyPr>
          <a:lstStyle/>
          <a:p>
            <a:pPr>
              <a:spcAft>
                <a:spcPts val="900"/>
              </a:spcAft>
              <a:defRPr sz="1800" b="1">
                <a:solidFill>
                  <a:srgbClr val="0F172A"/>
                </a:solidFill>
                <a:latin typeface="Aptos"/>
              </a:defRPr>
            </a:pPr>
            <a:r>
              <a:t>CA-3 system</a:t>
            </a:r>
          </a:p>
        </p:txBody>
      </p:sp>
      <p:sp>
        <p:nvSpPr>
          <p:cNvPr id="11" name="TextBox 10"/>
          <p:cNvSpPr txBox="1"/>
          <p:nvPr/>
        </p:nvSpPr>
        <p:spPr>
          <a:xfrm>
            <a:off x="6656832" y="2560320"/>
            <a:ext cx="4389120" cy="2423160"/>
          </a:xfrm>
          <a:prstGeom prst="rect">
            <a:avLst/>
          </a:prstGeom>
          <a:noFill/>
        </p:spPr>
        <p:txBody>
          <a:bodyPr wrap="square" lIns="27432" rIns="27432" tIns="18288" bIns="9144">
            <a:spAutoFit/>
          </a:bodyPr>
          <a:lstStyle/>
          <a:p>
            <a:pPr>
              <a:spcAft>
                <a:spcPts val="900"/>
              </a:spcAft>
              <a:defRPr sz="1700" b="0">
                <a:solidFill>
                  <a:srgbClr val="1E293B"/>
                </a:solidFill>
                <a:latin typeface="Aptos"/>
              </a:defRPr>
            </a:pPr>
            <a:r>
              <a:t>React + TypeScript client</a:t>
            </a:r>
          </a:p>
          <a:p>
            <a:pPr>
              <a:spcAft>
                <a:spcPts val="900"/>
              </a:spcAft>
              <a:defRPr sz="1700" b="0">
                <a:solidFill>
                  <a:srgbClr val="1E293B"/>
                </a:solidFill>
                <a:latin typeface="Aptos"/>
              </a:defRPr>
            </a:pPr>
            <a:r>
              <a:t>FastAPI JSON contract</a:t>
            </a:r>
          </a:p>
          <a:p>
            <a:pPr>
              <a:spcAft>
                <a:spcPts val="900"/>
              </a:spcAft>
              <a:defRPr sz="1700" b="0">
                <a:solidFill>
                  <a:srgbClr val="1E293B"/>
                </a:solidFill>
                <a:latin typeface="Aptos"/>
              </a:defRPr>
            </a:pPr>
            <a:r>
              <a:t>54 checked API operations</a:t>
            </a:r>
          </a:p>
          <a:p>
            <a:pPr>
              <a:spcAft>
                <a:spcPts val="900"/>
              </a:spcAft>
              <a:defRPr sz="1700" b="0">
                <a:solidFill>
                  <a:srgbClr val="1E293B"/>
                </a:solidFill>
                <a:latin typeface="Aptos"/>
              </a:defRPr>
            </a:pPr>
            <a:r>
              <a:t>Seven registered agents</a:t>
            </a:r>
          </a:p>
          <a:p>
            <a:pPr>
              <a:spcAft>
                <a:spcPts val="900"/>
              </a:spcAft>
              <a:defRPr sz="1700" b="0">
                <a:solidFill>
                  <a:srgbClr val="1E293B"/>
                </a:solidFill>
                <a:latin typeface="Aptos"/>
              </a:defRPr>
            </a:pPr>
            <a:r>
              <a:t>Browser E2E and evidence docs</a:t>
            </a:r>
          </a:p>
        </p:txBody>
      </p:sp>
      <p:sp>
        <p:nvSpPr>
          <p:cNvPr id="12" name="TextBox 11"/>
          <p:cNvSpPr txBox="1"/>
          <p:nvPr/>
        </p:nvSpPr>
        <p:spPr>
          <a:xfrm>
            <a:off x="5321808" y="3703320"/>
            <a:ext cx="640080" cy="457200"/>
          </a:xfrm>
          <a:prstGeom prst="rect">
            <a:avLst/>
          </a:prstGeom>
          <a:noFill/>
        </p:spPr>
        <p:txBody>
          <a:bodyPr wrap="square" lIns="27432" rIns="27432" tIns="18288" bIns="9144">
            <a:spAutoFit/>
          </a:bodyPr>
          <a:lstStyle/>
          <a:p>
            <a:pPr algn="ctr">
              <a:spcAft>
                <a:spcPts val="900"/>
              </a:spcAft>
              <a:defRPr sz="2600" b="1">
                <a:solidFill>
                  <a:srgbClr val="0D9488"/>
                </a:solidFill>
                <a:latin typeface="Aptos"/>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256032"/>
            <a:ext cx="9601200" cy="256032"/>
          </a:xfrm>
          <a:prstGeom prst="rect">
            <a:avLst/>
          </a:prstGeom>
          <a:noFill/>
        </p:spPr>
        <p:txBody>
          <a:bodyPr wrap="square" lIns="27432" rIns="27432" tIns="18288" bIns="9144">
            <a:spAutoFit/>
          </a:bodyPr>
          <a:lstStyle/>
          <a:p>
            <a:pPr>
              <a:spcAft>
                <a:spcPts val="900"/>
              </a:spcAft>
              <a:defRPr sz="1000" b="1">
                <a:solidFill>
                  <a:srgbClr val="0D9488"/>
                </a:solidFill>
                <a:latin typeface="Aptos"/>
              </a:defRPr>
            </a:pPr>
            <a:r>
              <a:t>COOPERATION AND CONTROL</a:t>
            </a:r>
          </a:p>
        </p:txBody>
      </p:sp>
      <p:sp>
        <p:nvSpPr>
          <p:cNvPr id="3" name="TextBox 2"/>
          <p:cNvSpPr txBox="1"/>
          <p:nvPr/>
        </p:nvSpPr>
        <p:spPr>
          <a:xfrm>
            <a:off x="566928" y="576072"/>
            <a:ext cx="10972800" cy="594360"/>
          </a:xfrm>
          <a:prstGeom prst="rect">
            <a:avLst/>
          </a:prstGeom>
          <a:noFill/>
        </p:spPr>
        <p:txBody>
          <a:bodyPr wrap="square" lIns="27432" rIns="27432" tIns="18288" bIns="9144">
            <a:spAutoFit/>
          </a:bodyPr>
          <a:lstStyle/>
          <a:p>
            <a:pPr>
              <a:spcAft>
                <a:spcPts val="900"/>
              </a:spcAft>
              <a:defRPr sz="2800" b="1">
                <a:solidFill>
                  <a:srgbClr val="0F172A"/>
                </a:solidFill>
                <a:latin typeface="Aptos"/>
              </a:defRPr>
            </a:pPr>
            <a:r>
              <a:t>Seven agents, one bounded workflow</a:t>
            </a:r>
          </a:p>
        </p:txBody>
      </p:sp>
      <p:sp>
        <p:nvSpPr>
          <p:cNvPr id="4" name="Rectangle 3"/>
          <p:cNvSpPr/>
          <p:nvPr/>
        </p:nvSpPr>
        <p:spPr>
          <a:xfrm>
            <a:off x="566928" y="1280160"/>
            <a:ext cx="1101852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0" y="6510528"/>
            <a:ext cx="411480" cy="182880"/>
          </a:xfrm>
          <a:prstGeom prst="rect">
            <a:avLst/>
          </a:prstGeom>
          <a:noFill/>
        </p:spPr>
        <p:txBody>
          <a:bodyPr wrap="square" lIns="27432" rIns="27432" tIns="18288" bIns="9144">
            <a:spAutoFit/>
          </a:bodyPr>
          <a:lstStyle/>
          <a:p>
            <a:pPr algn="r">
              <a:spcAft>
                <a:spcPts val="900"/>
              </a:spcAft>
              <a:defRPr sz="900" b="1">
                <a:solidFill>
                  <a:srgbClr val="475569"/>
                </a:solidFill>
                <a:latin typeface="Aptos"/>
              </a:defRPr>
            </a:pPr>
            <a:r>
              <a:t>04</a:t>
            </a:r>
          </a:p>
        </p:txBody>
      </p:sp>
      <p:sp>
        <p:nvSpPr>
          <p:cNvPr id="6" name="Rounded Rectangle 5"/>
          <p:cNvSpPr/>
          <p:nvPr/>
        </p:nvSpPr>
        <p:spPr>
          <a:xfrm>
            <a:off x="822960" y="1828800"/>
            <a:ext cx="2788920" cy="822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 y="1956816"/>
            <a:ext cx="384048" cy="365760"/>
          </a:xfrm>
          <a:prstGeom prst="rect">
            <a:avLst/>
          </a:prstGeom>
          <a:noFill/>
        </p:spPr>
        <p:txBody>
          <a:bodyPr wrap="square" lIns="27432" rIns="27432" tIns="18288" bIns="9144">
            <a:spAutoFit/>
          </a:bodyPr>
          <a:lstStyle/>
          <a:p>
            <a:pPr>
              <a:spcAft>
                <a:spcPts val="900"/>
              </a:spcAft>
              <a:defRPr sz="1700" b="1">
                <a:solidFill>
                  <a:srgbClr val="0D9488"/>
                </a:solidFill>
                <a:latin typeface="Aptos"/>
              </a:defRPr>
            </a:pPr>
            <a:r>
              <a:t>1</a:t>
            </a:r>
          </a:p>
        </p:txBody>
      </p:sp>
      <p:sp>
        <p:nvSpPr>
          <p:cNvPr id="8" name="TextBox 7"/>
          <p:cNvSpPr txBox="1"/>
          <p:nvPr/>
        </p:nvSpPr>
        <p:spPr>
          <a:xfrm>
            <a:off x="1417320" y="1984248"/>
            <a:ext cx="2011680" cy="365760"/>
          </a:xfrm>
          <a:prstGeom prst="rect">
            <a:avLst/>
          </a:prstGeom>
          <a:noFill/>
        </p:spPr>
        <p:txBody>
          <a:bodyPr wrap="square" lIns="27432" rIns="27432" tIns="18288" bIns="9144">
            <a:spAutoFit/>
          </a:bodyPr>
          <a:lstStyle/>
          <a:p>
            <a:pPr>
              <a:spcAft>
                <a:spcPts val="900"/>
              </a:spcAft>
              <a:defRPr sz="1600" b="1">
                <a:solidFill>
                  <a:srgbClr val="0F172A"/>
                </a:solidFill>
                <a:latin typeface="Aptos"/>
              </a:defRPr>
            </a:pPr>
            <a:r>
              <a:t>Planner</a:t>
            </a:r>
          </a:p>
        </p:txBody>
      </p:sp>
      <p:sp>
        <p:nvSpPr>
          <p:cNvPr id="9" name="Rounded Rectangle 8"/>
          <p:cNvSpPr/>
          <p:nvPr/>
        </p:nvSpPr>
        <p:spPr>
          <a:xfrm>
            <a:off x="4251960" y="1828800"/>
            <a:ext cx="2788920" cy="822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8" y="1956816"/>
            <a:ext cx="384048" cy="365760"/>
          </a:xfrm>
          <a:prstGeom prst="rect">
            <a:avLst/>
          </a:prstGeom>
          <a:noFill/>
        </p:spPr>
        <p:txBody>
          <a:bodyPr wrap="square" lIns="27432" rIns="27432" tIns="18288" bIns="9144">
            <a:spAutoFit/>
          </a:bodyPr>
          <a:lstStyle/>
          <a:p>
            <a:pPr>
              <a:spcAft>
                <a:spcPts val="900"/>
              </a:spcAft>
              <a:defRPr sz="1700" b="1">
                <a:solidFill>
                  <a:srgbClr val="0D9488"/>
                </a:solidFill>
                <a:latin typeface="Aptos"/>
              </a:defRPr>
            </a:pPr>
            <a:r>
              <a:t>2</a:t>
            </a:r>
          </a:p>
        </p:txBody>
      </p:sp>
      <p:sp>
        <p:nvSpPr>
          <p:cNvPr id="11" name="TextBox 10"/>
          <p:cNvSpPr txBox="1"/>
          <p:nvPr/>
        </p:nvSpPr>
        <p:spPr>
          <a:xfrm>
            <a:off x="4846320" y="1984248"/>
            <a:ext cx="2011680" cy="365760"/>
          </a:xfrm>
          <a:prstGeom prst="rect">
            <a:avLst/>
          </a:prstGeom>
          <a:noFill/>
        </p:spPr>
        <p:txBody>
          <a:bodyPr wrap="square" lIns="27432" rIns="27432" tIns="18288" bIns="9144">
            <a:spAutoFit/>
          </a:bodyPr>
          <a:lstStyle/>
          <a:p>
            <a:pPr>
              <a:spcAft>
                <a:spcPts val="900"/>
              </a:spcAft>
              <a:defRPr sz="1600" b="1">
                <a:solidFill>
                  <a:srgbClr val="0F172A"/>
                </a:solidFill>
                <a:latin typeface="Aptos"/>
              </a:defRPr>
            </a:pPr>
            <a:r>
              <a:t>Code Analysis</a:t>
            </a:r>
          </a:p>
        </p:txBody>
      </p:sp>
      <p:sp>
        <p:nvSpPr>
          <p:cNvPr id="12" name="Rounded Rectangle 11"/>
          <p:cNvSpPr/>
          <p:nvPr/>
        </p:nvSpPr>
        <p:spPr>
          <a:xfrm>
            <a:off x="7680960" y="1828800"/>
            <a:ext cx="2788920" cy="822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36408" y="1956816"/>
            <a:ext cx="384048" cy="365760"/>
          </a:xfrm>
          <a:prstGeom prst="rect">
            <a:avLst/>
          </a:prstGeom>
          <a:noFill/>
        </p:spPr>
        <p:txBody>
          <a:bodyPr wrap="square" lIns="27432" rIns="27432" tIns="18288" bIns="9144">
            <a:spAutoFit/>
          </a:bodyPr>
          <a:lstStyle/>
          <a:p>
            <a:pPr>
              <a:spcAft>
                <a:spcPts val="900"/>
              </a:spcAft>
              <a:defRPr sz="1700" b="1">
                <a:solidFill>
                  <a:srgbClr val="0D9488"/>
                </a:solidFill>
                <a:latin typeface="Aptos"/>
              </a:defRPr>
            </a:pPr>
            <a:r>
              <a:t>3</a:t>
            </a:r>
          </a:p>
        </p:txBody>
      </p:sp>
      <p:sp>
        <p:nvSpPr>
          <p:cNvPr id="14" name="TextBox 13"/>
          <p:cNvSpPr txBox="1"/>
          <p:nvPr/>
        </p:nvSpPr>
        <p:spPr>
          <a:xfrm>
            <a:off x="8275320" y="1984248"/>
            <a:ext cx="2011680" cy="365760"/>
          </a:xfrm>
          <a:prstGeom prst="rect">
            <a:avLst/>
          </a:prstGeom>
          <a:noFill/>
        </p:spPr>
        <p:txBody>
          <a:bodyPr wrap="square" lIns="27432" rIns="27432" tIns="18288" bIns="9144">
            <a:spAutoFit/>
          </a:bodyPr>
          <a:lstStyle/>
          <a:p>
            <a:pPr>
              <a:spcAft>
                <a:spcPts val="900"/>
              </a:spcAft>
              <a:defRPr sz="1600" b="1">
                <a:solidFill>
                  <a:srgbClr val="0F172A"/>
                </a:solidFill>
                <a:latin typeface="Aptos"/>
              </a:defRPr>
            </a:pPr>
            <a:r>
              <a:t>Test Generation</a:t>
            </a:r>
          </a:p>
        </p:txBody>
      </p:sp>
      <p:sp>
        <p:nvSpPr>
          <p:cNvPr id="15" name="Rounded Rectangle 14"/>
          <p:cNvSpPr/>
          <p:nvPr/>
        </p:nvSpPr>
        <p:spPr>
          <a:xfrm>
            <a:off x="7680960" y="3703320"/>
            <a:ext cx="2788920" cy="822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36408" y="3831335"/>
            <a:ext cx="384048" cy="365760"/>
          </a:xfrm>
          <a:prstGeom prst="rect">
            <a:avLst/>
          </a:prstGeom>
          <a:noFill/>
        </p:spPr>
        <p:txBody>
          <a:bodyPr wrap="square" lIns="27432" rIns="27432" tIns="18288" bIns="9144">
            <a:spAutoFit/>
          </a:bodyPr>
          <a:lstStyle/>
          <a:p>
            <a:pPr>
              <a:spcAft>
                <a:spcPts val="900"/>
              </a:spcAft>
              <a:defRPr sz="1700" b="1">
                <a:solidFill>
                  <a:srgbClr val="0D9488"/>
                </a:solidFill>
                <a:latin typeface="Aptos"/>
              </a:defRPr>
            </a:pPr>
            <a:r>
              <a:t>4</a:t>
            </a:r>
          </a:p>
        </p:txBody>
      </p:sp>
      <p:sp>
        <p:nvSpPr>
          <p:cNvPr id="17" name="TextBox 16"/>
          <p:cNvSpPr txBox="1"/>
          <p:nvPr/>
        </p:nvSpPr>
        <p:spPr>
          <a:xfrm>
            <a:off x="8275320" y="3858768"/>
            <a:ext cx="2011680" cy="365760"/>
          </a:xfrm>
          <a:prstGeom prst="rect">
            <a:avLst/>
          </a:prstGeom>
          <a:noFill/>
        </p:spPr>
        <p:txBody>
          <a:bodyPr wrap="square" lIns="27432" rIns="27432" tIns="18288" bIns="9144">
            <a:spAutoFit/>
          </a:bodyPr>
          <a:lstStyle/>
          <a:p>
            <a:pPr>
              <a:spcAft>
                <a:spcPts val="900"/>
              </a:spcAft>
              <a:defRPr sz="1600" b="1">
                <a:solidFill>
                  <a:srgbClr val="0F172A"/>
                </a:solidFill>
                <a:latin typeface="Aptos"/>
              </a:defRPr>
            </a:pPr>
            <a:r>
              <a:t>Test Execution</a:t>
            </a:r>
          </a:p>
        </p:txBody>
      </p:sp>
      <p:sp>
        <p:nvSpPr>
          <p:cNvPr id="18" name="Rounded Rectangle 17"/>
          <p:cNvSpPr/>
          <p:nvPr/>
        </p:nvSpPr>
        <p:spPr>
          <a:xfrm>
            <a:off x="4251960" y="3703320"/>
            <a:ext cx="2788920" cy="822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8" y="3831335"/>
            <a:ext cx="384048" cy="365760"/>
          </a:xfrm>
          <a:prstGeom prst="rect">
            <a:avLst/>
          </a:prstGeom>
          <a:noFill/>
        </p:spPr>
        <p:txBody>
          <a:bodyPr wrap="square" lIns="27432" rIns="27432" tIns="18288" bIns="9144">
            <a:spAutoFit/>
          </a:bodyPr>
          <a:lstStyle/>
          <a:p>
            <a:pPr>
              <a:spcAft>
                <a:spcPts val="900"/>
              </a:spcAft>
              <a:defRPr sz="1700" b="1">
                <a:solidFill>
                  <a:srgbClr val="0D9488"/>
                </a:solidFill>
                <a:latin typeface="Aptos"/>
              </a:defRPr>
            </a:pPr>
            <a:r>
              <a:t>5</a:t>
            </a:r>
          </a:p>
        </p:txBody>
      </p:sp>
      <p:sp>
        <p:nvSpPr>
          <p:cNvPr id="20" name="TextBox 19"/>
          <p:cNvSpPr txBox="1"/>
          <p:nvPr/>
        </p:nvSpPr>
        <p:spPr>
          <a:xfrm>
            <a:off x="4846320" y="3858768"/>
            <a:ext cx="2011680" cy="365760"/>
          </a:xfrm>
          <a:prstGeom prst="rect">
            <a:avLst/>
          </a:prstGeom>
          <a:noFill/>
        </p:spPr>
        <p:txBody>
          <a:bodyPr wrap="square" lIns="27432" rIns="27432" tIns="18288" bIns="9144">
            <a:spAutoFit/>
          </a:bodyPr>
          <a:lstStyle/>
          <a:p>
            <a:pPr>
              <a:spcAft>
                <a:spcPts val="900"/>
              </a:spcAft>
              <a:defRPr sz="1600" b="1">
                <a:solidFill>
                  <a:srgbClr val="0F172A"/>
                </a:solidFill>
                <a:latin typeface="Aptos"/>
              </a:defRPr>
            </a:pPr>
            <a:r>
              <a:t>Critic</a:t>
            </a:r>
          </a:p>
        </p:txBody>
      </p:sp>
      <p:sp>
        <p:nvSpPr>
          <p:cNvPr id="21" name="Rounded Rectangle 20"/>
          <p:cNvSpPr/>
          <p:nvPr/>
        </p:nvSpPr>
        <p:spPr>
          <a:xfrm>
            <a:off x="822960" y="3703320"/>
            <a:ext cx="2788920" cy="822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831335"/>
            <a:ext cx="384048" cy="365760"/>
          </a:xfrm>
          <a:prstGeom prst="rect">
            <a:avLst/>
          </a:prstGeom>
          <a:noFill/>
        </p:spPr>
        <p:txBody>
          <a:bodyPr wrap="square" lIns="27432" rIns="27432" tIns="18288" bIns="9144">
            <a:spAutoFit/>
          </a:bodyPr>
          <a:lstStyle/>
          <a:p>
            <a:pPr>
              <a:spcAft>
                <a:spcPts val="900"/>
              </a:spcAft>
              <a:defRPr sz="1700" b="1">
                <a:solidFill>
                  <a:srgbClr val="0D9488"/>
                </a:solidFill>
                <a:latin typeface="Aptos"/>
              </a:defRPr>
            </a:pPr>
            <a:r>
              <a:t>6</a:t>
            </a:r>
          </a:p>
        </p:txBody>
      </p:sp>
      <p:sp>
        <p:nvSpPr>
          <p:cNvPr id="23" name="TextBox 22"/>
          <p:cNvSpPr txBox="1"/>
          <p:nvPr/>
        </p:nvSpPr>
        <p:spPr>
          <a:xfrm>
            <a:off x="1417320" y="3858768"/>
            <a:ext cx="2011680" cy="365760"/>
          </a:xfrm>
          <a:prstGeom prst="rect">
            <a:avLst/>
          </a:prstGeom>
          <a:noFill/>
        </p:spPr>
        <p:txBody>
          <a:bodyPr wrap="square" lIns="27432" rIns="27432" tIns="18288" bIns="9144">
            <a:spAutoFit/>
          </a:bodyPr>
          <a:lstStyle/>
          <a:p>
            <a:pPr>
              <a:spcAft>
                <a:spcPts val="900"/>
              </a:spcAft>
              <a:defRPr sz="1600" b="1">
                <a:solidFill>
                  <a:srgbClr val="0F172A"/>
                </a:solidFill>
                <a:latin typeface="Aptos"/>
              </a:defRPr>
            </a:pPr>
            <a:r>
              <a:t>Fix</a:t>
            </a:r>
          </a:p>
        </p:txBody>
      </p:sp>
      <p:sp>
        <p:nvSpPr>
          <p:cNvPr id="24" name="Rounded Rectangle 23"/>
          <p:cNvSpPr/>
          <p:nvPr/>
        </p:nvSpPr>
        <p:spPr>
          <a:xfrm>
            <a:off x="4251960" y="4892040"/>
            <a:ext cx="2788920" cy="822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5020055"/>
            <a:ext cx="384048" cy="365760"/>
          </a:xfrm>
          <a:prstGeom prst="rect">
            <a:avLst/>
          </a:prstGeom>
          <a:noFill/>
        </p:spPr>
        <p:txBody>
          <a:bodyPr wrap="square" lIns="27432" rIns="27432" tIns="18288" bIns="9144">
            <a:spAutoFit/>
          </a:bodyPr>
          <a:lstStyle/>
          <a:p>
            <a:pPr>
              <a:spcAft>
                <a:spcPts val="900"/>
              </a:spcAft>
              <a:defRPr sz="1700" b="1">
                <a:solidFill>
                  <a:srgbClr val="0D9488"/>
                </a:solidFill>
                <a:latin typeface="Aptos"/>
              </a:defRPr>
            </a:pPr>
            <a:r>
              <a:t>7</a:t>
            </a:r>
          </a:p>
        </p:txBody>
      </p:sp>
      <p:sp>
        <p:nvSpPr>
          <p:cNvPr id="26" name="TextBox 25"/>
          <p:cNvSpPr txBox="1"/>
          <p:nvPr/>
        </p:nvSpPr>
        <p:spPr>
          <a:xfrm>
            <a:off x="4846320" y="5047488"/>
            <a:ext cx="2011680" cy="365760"/>
          </a:xfrm>
          <a:prstGeom prst="rect">
            <a:avLst/>
          </a:prstGeom>
          <a:noFill/>
        </p:spPr>
        <p:txBody>
          <a:bodyPr wrap="square" lIns="27432" rIns="27432" tIns="18288" bIns="9144">
            <a:spAutoFit/>
          </a:bodyPr>
          <a:lstStyle/>
          <a:p>
            <a:pPr>
              <a:spcAft>
                <a:spcPts val="900"/>
              </a:spcAft>
              <a:defRPr sz="1600" b="1">
                <a:solidFill>
                  <a:srgbClr val="0F172A"/>
                </a:solidFill>
                <a:latin typeface="Aptos"/>
              </a:defRPr>
            </a:pPr>
            <a:r>
              <a:t>Reporting</a:t>
            </a:r>
          </a:p>
        </p:txBody>
      </p:sp>
      <p:sp>
        <p:nvSpPr>
          <p:cNvPr id="27" name="TextBox 26"/>
          <p:cNvSpPr txBox="1"/>
          <p:nvPr/>
        </p:nvSpPr>
        <p:spPr>
          <a:xfrm>
            <a:off x="914400" y="5989320"/>
            <a:ext cx="10058400" cy="365760"/>
          </a:xfrm>
          <a:prstGeom prst="rect">
            <a:avLst/>
          </a:prstGeom>
          <a:noFill/>
        </p:spPr>
        <p:txBody>
          <a:bodyPr wrap="square" lIns="27432" rIns="27432" tIns="18288" bIns="9144">
            <a:spAutoFit/>
          </a:bodyPr>
          <a:lstStyle/>
          <a:p>
            <a:pPr>
              <a:spcAft>
                <a:spcPts val="900"/>
              </a:spcAft>
              <a:defRPr sz="1400" b="1">
                <a:solidFill>
                  <a:srgbClr val="475569"/>
                </a:solidFill>
                <a:latin typeface="Aptos"/>
              </a:defRPr>
            </a:pPr>
            <a:r>
              <a:t>Critic may request another evidence cycle only while the configured iteration bound allows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256032"/>
            <a:ext cx="9601200" cy="256032"/>
          </a:xfrm>
          <a:prstGeom prst="rect">
            <a:avLst/>
          </a:prstGeom>
          <a:noFill/>
        </p:spPr>
        <p:txBody>
          <a:bodyPr wrap="square" lIns="27432" rIns="27432" tIns="18288" bIns="9144">
            <a:spAutoFit/>
          </a:bodyPr>
          <a:lstStyle/>
          <a:p>
            <a:pPr>
              <a:spcAft>
                <a:spcPts val="900"/>
              </a:spcAft>
              <a:defRPr sz="1000" b="1">
                <a:solidFill>
                  <a:srgbClr val="0D9488"/>
                </a:solidFill>
                <a:latin typeface="Aptos"/>
              </a:defRPr>
            </a:pPr>
            <a:r>
              <a:t>COMPONENTS AND DATA FLOW</a:t>
            </a:r>
          </a:p>
        </p:txBody>
      </p:sp>
      <p:sp>
        <p:nvSpPr>
          <p:cNvPr id="3" name="TextBox 2"/>
          <p:cNvSpPr txBox="1"/>
          <p:nvPr/>
        </p:nvSpPr>
        <p:spPr>
          <a:xfrm>
            <a:off x="566928" y="576072"/>
            <a:ext cx="10972800" cy="594360"/>
          </a:xfrm>
          <a:prstGeom prst="rect">
            <a:avLst/>
          </a:prstGeom>
          <a:noFill/>
        </p:spPr>
        <p:txBody>
          <a:bodyPr wrap="square" lIns="27432" rIns="27432" tIns="18288" bIns="9144">
            <a:spAutoFit/>
          </a:bodyPr>
          <a:lstStyle/>
          <a:p>
            <a:pPr>
              <a:spcAft>
                <a:spcPts val="900"/>
              </a:spcAft>
              <a:defRPr sz="2800" b="1">
                <a:solidFill>
                  <a:srgbClr val="0F172A"/>
                </a:solidFill>
                <a:latin typeface="Aptos"/>
              </a:defRPr>
            </a:pPr>
            <a:r>
              <a:t>System architecture</a:t>
            </a:r>
          </a:p>
        </p:txBody>
      </p:sp>
      <p:sp>
        <p:nvSpPr>
          <p:cNvPr id="4" name="Rectangle 3"/>
          <p:cNvSpPr/>
          <p:nvPr/>
        </p:nvSpPr>
        <p:spPr>
          <a:xfrm>
            <a:off x="566928" y="1280160"/>
            <a:ext cx="1101852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0" y="6510528"/>
            <a:ext cx="411480" cy="182880"/>
          </a:xfrm>
          <a:prstGeom prst="rect">
            <a:avLst/>
          </a:prstGeom>
          <a:noFill/>
        </p:spPr>
        <p:txBody>
          <a:bodyPr wrap="square" lIns="27432" rIns="27432" tIns="18288" bIns="9144">
            <a:spAutoFit/>
          </a:bodyPr>
          <a:lstStyle/>
          <a:p>
            <a:pPr algn="r">
              <a:spcAft>
                <a:spcPts val="900"/>
              </a:spcAft>
              <a:defRPr sz="900" b="1">
                <a:solidFill>
                  <a:srgbClr val="475569"/>
                </a:solidFill>
                <a:latin typeface="Aptos"/>
              </a:defRPr>
            </a:pPr>
            <a:r>
              <a:t>05</a:t>
            </a:r>
          </a:p>
        </p:txBody>
      </p:sp>
      <p:sp>
        <p:nvSpPr>
          <p:cNvPr id="6" name="TextBox 5"/>
          <p:cNvSpPr txBox="1"/>
          <p:nvPr/>
        </p:nvSpPr>
        <p:spPr>
          <a:xfrm>
            <a:off x="914400" y="1828800"/>
            <a:ext cx="10058400" cy="3474720"/>
          </a:xfrm>
          <a:prstGeom prst="rect">
            <a:avLst/>
          </a:prstGeom>
          <a:noFill/>
        </p:spPr>
        <p:txBody>
          <a:bodyPr wrap="square" lIns="27432" rIns="27432" tIns="18288" bIns="9144">
            <a:spAutoFit/>
          </a:bodyPr>
          <a:lstStyle/>
          <a:p>
            <a:pPr>
              <a:spcAft>
                <a:spcPts val="900"/>
              </a:spcAft>
              <a:defRPr sz="2100" b="0">
                <a:solidFill>
                  <a:srgbClr val="1E293B"/>
                </a:solidFill>
                <a:latin typeface="Aptos"/>
              </a:defRPr>
            </a:pPr>
            <a:r>
              <a:t>Browser → React/Vite → FastAPI → background worker → orchestrator</a:t>
            </a:r>
          </a:p>
          <a:p>
            <a:pPr>
              <a:spcAft>
                <a:spcPts val="900"/>
              </a:spcAft>
              <a:defRPr sz="2100" b="0">
                <a:solidFill>
                  <a:srgbClr val="1E293B"/>
                </a:solidFill>
                <a:latin typeface="Aptos"/>
              </a:defRPr>
            </a:pPr>
          </a:p>
          <a:p>
            <a:pPr>
              <a:spcAft>
                <a:spcPts val="900"/>
              </a:spcAft>
              <a:defRPr sz="2100" b="0">
                <a:solidFill>
                  <a:srgbClr val="1E293B"/>
                </a:solidFill>
                <a:latin typeface="Aptos"/>
              </a:defRPr>
            </a:pPr>
            <a:r>
              <a:t>Seven agents use analysis, test generation, isolated execution, fix verification, and report tools. SQLite stores accounts and run evidence; reports are downloadable through the API.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256032"/>
            <a:ext cx="9601200" cy="256032"/>
          </a:xfrm>
          <a:prstGeom prst="rect">
            <a:avLst/>
          </a:prstGeom>
          <a:noFill/>
        </p:spPr>
        <p:txBody>
          <a:bodyPr wrap="square" lIns="27432" rIns="27432" tIns="18288" bIns="9144">
            <a:spAutoFit/>
          </a:bodyPr>
          <a:lstStyle/>
          <a:p>
            <a:pPr>
              <a:spcAft>
                <a:spcPts val="900"/>
              </a:spcAft>
              <a:defRPr sz="1000" b="1">
                <a:solidFill>
                  <a:srgbClr val="0D9488"/>
                </a:solidFill>
                <a:latin typeface="Aptos"/>
              </a:defRPr>
            </a:pPr>
            <a:r>
              <a:t>DEMO EVIDENCE</a:t>
            </a:r>
          </a:p>
        </p:txBody>
      </p:sp>
      <p:sp>
        <p:nvSpPr>
          <p:cNvPr id="3" name="TextBox 2"/>
          <p:cNvSpPr txBox="1"/>
          <p:nvPr/>
        </p:nvSpPr>
        <p:spPr>
          <a:xfrm>
            <a:off x="566928" y="576072"/>
            <a:ext cx="10972800" cy="594360"/>
          </a:xfrm>
          <a:prstGeom prst="rect">
            <a:avLst/>
          </a:prstGeom>
          <a:noFill/>
        </p:spPr>
        <p:txBody>
          <a:bodyPr wrap="square" lIns="27432" rIns="27432" tIns="18288" bIns="9144">
            <a:spAutoFit/>
          </a:bodyPr>
          <a:lstStyle/>
          <a:p>
            <a:pPr>
              <a:spcAft>
                <a:spcPts val="900"/>
              </a:spcAft>
              <a:defRPr sz="2800" b="1">
                <a:solidFill>
                  <a:srgbClr val="0F172A"/>
                </a:solidFill>
                <a:latin typeface="Aptos"/>
              </a:defRPr>
            </a:pPr>
            <a:r>
              <a:t>Live flow: sample to verified patch</a:t>
            </a:r>
          </a:p>
        </p:txBody>
      </p:sp>
      <p:sp>
        <p:nvSpPr>
          <p:cNvPr id="4" name="Rectangle 3"/>
          <p:cNvSpPr/>
          <p:nvPr/>
        </p:nvSpPr>
        <p:spPr>
          <a:xfrm>
            <a:off x="566928" y="1280160"/>
            <a:ext cx="1101852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0" y="6510528"/>
            <a:ext cx="411480" cy="182880"/>
          </a:xfrm>
          <a:prstGeom prst="rect">
            <a:avLst/>
          </a:prstGeom>
          <a:noFill/>
        </p:spPr>
        <p:txBody>
          <a:bodyPr wrap="square" lIns="27432" rIns="27432" tIns="18288" bIns="9144">
            <a:spAutoFit/>
          </a:bodyPr>
          <a:lstStyle/>
          <a:p>
            <a:pPr algn="r">
              <a:spcAft>
                <a:spcPts val="900"/>
              </a:spcAft>
              <a:defRPr sz="900" b="1">
                <a:solidFill>
                  <a:srgbClr val="475569"/>
                </a:solidFill>
                <a:latin typeface="Aptos"/>
              </a:defRPr>
            </a:pPr>
            <a:r>
              <a:t>06</a:t>
            </a:r>
          </a:p>
        </p:txBody>
      </p:sp>
      <p:sp>
        <p:nvSpPr>
          <p:cNvPr id="6" name="Rounded Rectangle 5"/>
          <p:cNvSpPr/>
          <p:nvPr/>
        </p:nvSpPr>
        <p:spPr>
          <a:xfrm>
            <a:off x="658368" y="1572768"/>
            <a:ext cx="7424927" cy="4526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x_my_code_sample.png"/>
          <p:cNvPicPr>
            <a:picLocks noChangeAspect="1"/>
          </p:cNvPicPr>
          <p:nvPr/>
        </p:nvPicPr>
        <p:blipFill>
          <a:blip r:embed="rId2"/>
          <a:stretch>
            <a:fillRect/>
          </a:stretch>
        </p:blipFill>
        <p:spPr>
          <a:xfrm>
            <a:off x="822960" y="1737360"/>
            <a:ext cx="7086600" cy="7341275"/>
          </a:xfrm>
          <a:prstGeom prst="rect">
            <a:avLst/>
          </a:prstGeom>
        </p:spPr>
      </p:pic>
      <p:sp>
        <p:nvSpPr>
          <p:cNvPr id="8" name="Rounded Rectangle 7"/>
          <p:cNvSpPr/>
          <p:nvPr/>
        </p:nvSpPr>
        <p:spPr>
          <a:xfrm>
            <a:off x="8366760" y="1664208"/>
            <a:ext cx="2971800" cy="4160520"/>
          </a:xfrm>
          <a:prstGeom prst="roundRect">
            <a:avLst>
              <a:gd name="adj" fmla="val 12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68512" y="1938528"/>
            <a:ext cx="2377440" cy="384048"/>
          </a:xfrm>
          <a:prstGeom prst="rect">
            <a:avLst/>
          </a:prstGeom>
          <a:noFill/>
        </p:spPr>
        <p:txBody>
          <a:bodyPr wrap="square" lIns="27432" rIns="27432" tIns="18288" bIns="9144">
            <a:spAutoFit/>
          </a:bodyPr>
          <a:lstStyle/>
          <a:p>
            <a:pPr>
              <a:spcAft>
                <a:spcPts val="900"/>
              </a:spcAft>
              <a:defRPr sz="1800" b="1">
                <a:solidFill>
                  <a:srgbClr val="0F172A"/>
                </a:solidFill>
                <a:latin typeface="Aptos"/>
              </a:defRPr>
            </a:pPr>
            <a:r>
              <a:t>Demo path</a:t>
            </a:r>
          </a:p>
        </p:txBody>
      </p:sp>
      <p:sp>
        <p:nvSpPr>
          <p:cNvPr id="10" name="TextBox 9"/>
          <p:cNvSpPr txBox="1"/>
          <p:nvPr/>
        </p:nvSpPr>
        <p:spPr>
          <a:xfrm>
            <a:off x="8668512" y="2542032"/>
            <a:ext cx="2377440" cy="2468880"/>
          </a:xfrm>
          <a:prstGeom prst="rect">
            <a:avLst/>
          </a:prstGeom>
          <a:noFill/>
        </p:spPr>
        <p:txBody>
          <a:bodyPr wrap="square" lIns="27432" rIns="27432" tIns="18288" bIns="9144">
            <a:spAutoFit/>
          </a:bodyPr>
          <a:lstStyle/>
          <a:p>
            <a:pPr>
              <a:spcAft>
                <a:spcPts val="900"/>
              </a:spcAft>
              <a:defRPr sz="1600" b="0">
                <a:solidFill>
                  <a:srgbClr val="1E293B"/>
                </a:solidFill>
                <a:latin typeface="Aptos"/>
              </a:defRPr>
            </a:pPr>
            <a:r>
              <a:t>Load sample</a:t>
            </a:r>
          </a:p>
          <a:p>
            <a:pPr>
              <a:spcAft>
                <a:spcPts val="900"/>
              </a:spcAft>
              <a:defRPr sz="1600" b="0">
                <a:solidFill>
                  <a:srgbClr val="1E293B"/>
                </a:solidFill>
                <a:latin typeface="Aptos"/>
              </a:defRPr>
            </a:pPr>
            <a:r>
              <a:t>Run analysis</a:t>
            </a:r>
          </a:p>
          <a:p>
            <a:pPr>
              <a:spcAft>
                <a:spcPts val="900"/>
              </a:spcAft>
              <a:defRPr sz="1600" b="0">
                <a:solidFill>
                  <a:srgbClr val="1E293B"/>
                </a:solidFill>
                <a:latin typeface="Aptos"/>
              </a:defRPr>
            </a:pPr>
            <a:r>
              <a:t>Inspect tests</a:t>
            </a:r>
          </a:p>
          <a:p>
            <a:pPr>
              <a:spcAft>
                <a:spcPts val="900"/>
              </a:spcAft>
              <a:defRPr sz="1600" b="0">
                <a:solidFill>
                  <a:srgbClr val="1E293B"/>
                </a:solidFill>
                <a:latin typeface="Aptos"/>
              </a:defRPr>
            </a:pPr>
            <a:r>
              <a:t>Review diff</a:t>
            </a:r>
          </a:p>
          <a:p>
            <a:pPr>
              <a:spcAft>
                <a:spcPts val="900"/>
              </a:spcAft>
              <a:defRPr sz="1600" b="0">
                <a:solidFill>
                  <a:srgbClr val="1E293B"/>
                </a:solidFill>
                <a:latin typeface="Aptos"/>
              </a:defRPr>
            </a:pPr>
            <a:r>
              <a:t>Download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256032"/>
            <a:ext cx="9601200" cy="256032"/>
          </a:xfrm>
          <a:prstGeom prst="rect">
            <a:avLst/>
          </a:prstGeom>
          <a:noFill/>
        </p:spPr>
        <p:txBody>
          <a:bodyPr wrap="square" lIns="27432" rIns="27432" tIns="18288" bIns="9144">
            <a:spAutoFit/>
          </a:bodyPr>
          <a:lstStyle/>
          <a:p>
            <a:pPr>
              <a:spcAft>
                <a:spcPts val="900"/>
              </a:spcAft>
              <a:defRPr sz="1000" b="1">
                <a:solidFill>
                  <a:srgbClr val="0D9488"/>
                </a:solidFill>
                <a:latin typeface="Aptos"/>
              </a:defRPr>
            </a:pPr>
            <a:r>
              <a:t>EVIDENCE, NOT A BROAD ACCURACY CLAIM</a:t>
            </a:r>
          </a:p>
        </p:txBody>
      </p:sp>
      <p:sp>
        <p:nvSpPr>
          <p:cNvPr id="3" name="TextBox 2"/>
          <p:cNvSpPr txBox="1"/>
          <p:nvPr/>
        </p:nvSpPr>
        <p:spPr>
          <a:xfrm>
            <a:off x="566928" y="576072"/>
            <a:ext cx="10972800" cy="594360"/>
          </a:xfrm>
          <a:prstGeom prst="rect">
            <a:avLst/>
          </a:prstGeom>
          <a:noFill/>
        </p:spPr>
        <p:txBody>
          <a:bodyPr wrap="square" lIns="27432" rIns="27432" tIns="18288" bIns="9144">
            <a:spAutoFit/>
          </a:bodyPr>
          <a:lstStyle/>
          <a:p>
            <a:pPr>
              <a:spcAft>
                <a:spcPts val="900"/>
              </a:spcAft>
              <a:defRPr sz="2800" b="1">
                <a:solidFill>
                  <a:srgbClr val="0F172A"/>
                </a:solidFill>
                <a:latin typeface="Aptos"/>
              </a:defRPr>
            </a:pPr>
            <a:r>
              <a:t>Measured results on bundled samples</a:t>
            </a:r>
          </a:p>
        </p:txBody>
      </p:sp>
      <p:sp>
        <p:nvSpPr>
          <p:cNvPr id="4" name="Rectangle 3"/>
          <p:cNvSpPr/>
          <p:nvPr/>
        </p:nvSpPr>
        <p:spPr>
          <a:xfrm>
            <a:off x="566928" y="1280160"/>
            <a:ext cx="1101852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0" y="6510528"/>
            <a:ext cx="411480" cy="182880"/>
          </a:xfrm>
          <a:prstGeom prst="rect">
            <a:avLst/>
          </a:prstGeom>
          <a:noFill/>
        </p:spPr>
        <p:txBody>
          <a:bodyPr wrap="square" lIns="27432" rIns="27432" tIns="18288" bIns="9144">
            <a:spAutoFit/>
          </a:bodyPr>
          <a:lstStyle/>
          <a:p>
            <a:pPr algn="r">
              <a:spcAft>
                <a:spcPts val="900"/>
              </a:spcAft>
              <a:defRPr sz="900" b="1">
                <a:solidFill>
                  <a:srgbClr val="475569"/>
                </a:solidFill>
                <a:latin typeface="Aptos"/>
              </a:defRPr>
            </a:pPr>
            <a:r>
              <a:t>07</a:t>
            </a:r>
          </a:p>
        </p:txBody>
      </p:sp>
      <p:graphicFrame>
        <p:nvGraphicFramePr>
          <p:cNvPr id="6" name="Table 5"/>
          <p:cNvGraphicFramePr>
            <a:graphicFrameLocks noGrp="1"/>
          </p:cNvGraphicFramePr>
          <p:nvPr/>
        </p:nvGraphicFramePr>
        <p:xfrm>
          <a:off x="658368" y="1737360"/>
          <a:ext cx="10881360" cy="2468880"/>
        </p:xfrm>
        <a:graphic>
          <a:graphicData uri="http://schemas.openxmlformats.org/drawingml/2006/table">
            <a:tbl>
              <a:tblPr firstRow="1" bandRow="1">
                <a:tableStyleId>{5C22544A-7EE6-4342-B048-85BDC9FD1C3A}</a:tableStyleId>
              </a:tblPr>
              <a:tblGrid>
                <a:gridCol w="2651760"/>
                <a:gridCol w="1463040"/>
                <a:gridCol w="2468880"/>
                <a:gridCol w="2468880"/>
                <a:gridCol w="1828800"/>
              </a:tblGrid>
              <a:tr h="617220">
                <a:tc>
                  <a:txBody>
                    <a:bodyPr/>
                    <a:lstStyle/>
                    <a:p>
                      <a:pPr>
                        <a:defRPr sz="1200" b="1">
                          <a:solidFill>
                            <a:srgbClr val="FFFFFF"/>
                          </a:solidFill>
                          <a:latin typeface="Aptos"/>
                        </a:defRPr>
                      </a:pPr>
                      <a:r>
                        <a:t>Sample</a:t>
                      </a:r>
                    </a:p>
                  </a:txBody>
                  <a:tcPr marL="91440" marR="54864" anchor="ctr">
                    <a:solidFill>
                      <a:srgbClr val="0F172A"/>
                    </a:solidFill>
                  </a:tcPr>
                </a:tc>
                <a:tc>
                  <a:txBody>
                    <a:bodyPr/>
                    <a:lstStyle/>
                    <a:p>
                      <a:pPr>
                        <a:defRPr sz="1200" b="1">
                          <a:solidFill>
                            <a:srgbClr val="FFFFFF"/>
                          </a:solidFill>
                          <a:latin typeface="Aptos"/>
                        </a:defRPr>
                      </a:pPr>
                      <a:r>
                        <a:t>Cases</a:t>
                      </a:r>
                    </a:p>
                  </a:txBody>
                  <a:tcPr marL="91440" marR="54864" anchor="ctr">
                    <a:solidFill>
                      <a:srgbClr val="0F172A"/>
                    </a:solidFill>
                  </a:tcPr>
                </a:tc>
                <a:tc>
                  <a:txBody>
                    <a:bodyPr/>
                    <a:lstStyle/>
                    <a:p>
                      <a:pPr>
                        <a:defRPr sz="1200" b="1">
                          <a:solidFill>
                            <a:srgbClr val="FFFFFF"/>
                          </a:solidFill>
                          <a:latin typeface="Aptos"/>
                        </a:defRPr>
                      </a:pPr>
                      <a:r>
                        <a:t>Before pass/fail/error</a:t>
                      </a:r>
                    </a:p>
                  </a:txBody>
                  <a:tcPr marL="91440" marR="54864" anchor="ctr">
                    <a:solidFill>
                      <a:srgbClr val="0F172A"/>
                    </a:solidFill>
                  </a:tcPr>
                </a:tc>
                <a:tc>
                  <a:txBody>
                    <a:bodyPr/>
                    <a:lstStyle/>
                    <a:p>
                      <a:pPr>
                        <a:defRPr sz="1200" b="1">
                          <a:solidFill>
                            <a:srgbClr val="FFFFFF"/>
                          </a:solidFill>
                          <a:latin typeface="Aptos"/>
                        </a:defRPr>
                      </a:pPr>
                      <a:r>
                        <a:t>After pass/fail/error</a:t>
                      </a:r>
                    </a:p>
                  </a:txBody>
                  <a:tcPr marL="91440" marR="54864" anchor="ctr">
                    <a:solidFill>
                      <a:srgbClr val="0F172A"/>
                    </a:solidFill>
                  </a:tcPr>
                </a:tc>
                <a:tc>
                  <a:txBody>
                    <a:bodyPr/>
                    <a:lstStyle/>
                    <a:p>
                      <a:pPr>
                        <a:defRPr sz="1200" b="1">
                          <a:solidFill>
                            <a:srgbClr val="FFFFFF"/>
                          </a:solidFill>
                          <a:latin typeface="Aptos"/>
                        </a:defRPr>
                      </a:pPr>
                      <a:r>
                        <a:t>Fixes</a:t>
                      </a:r>
                    </a:p>
                  </a:txBody>
                  <a:tcPr marL="91440" marR="54864" anchor="ctr">
                    <a:solidFill>
                      <a:srgbClr val="0F172A"/>
                    </a:solidFill>
                  </a:tcPr>
                </a:tc>
              </a:tr>
              <a:tr h="617220">
                <a:tc>
                  <a:txBody>
                    <a:bodyPr/>
                    <a:lstStyle/>
                    <a:p>
                      <a:pPr>
                        <a:defRPr sz="1300" b="0">
                          <a:solidFill>
                            <a:srgbClr val="1E293B"/>
                          </a:solidFill>
                          <a:latin typeface="Aptos"/>
                        </a:defRPr>
                      </a:pPr>
                      <a:r>
                        <a:t>sample_buggy.py</a:t>
                      </a:r>
                    </a:p>
                  </a:txBody>
                  <a:tcPr marL="91440" marR="54864" anchor="ctr">
                    <a:solidFill>
                      <a:srgbClr val="F0FDFA"/>
                    </a:solidFill>
                  </a:tcPr>
                </a:tc>
                <a:tc>
                  <a:txBody>
                    <a:bodyPr/>
                    <a:lstStyle/>
                    <a:p>
                      <a:pPr>
                        <a:defRPr sz="1300" b="0">
                          <a:solidFill>
                            <a:srgbClr val="1E293B"/>
                          </a:solidFill>
                          <a:latin typeface="Aptos"/>
                        </a:defRPr>
                      </a:pPr>
                      <a:r>
                        <a:t>84</a:t>
                      </a:r>
                    </a:p>
                  </a:txBody>
                  <a:tcPr marL="91440" marR="54864" anchor="ctr">
                    <a:solidFill>
                      <a:srgbClr val="F0FDFA"/>
                    </a:solidFill>
                  </a:tcPr>
                </a:tc>
                <a:tc>
                  <a:txBody>
                    <a:bodyPr/>
                    <a:lstStyle/>
                    <a:p>
                      <a:pPr>
                        <a:defRPr sz="1300" b="0">
                          <a:solidFill>
                            <a:srgbClr val="1E293B"/>
                          </a:solidFill>
                          <a:latin typeface="Aptos"/>
                        </a:defRPr>
                      </a:pPr>
                      <a:r>
                        <a:t>77 / 6 / 1</a:t>
                      </a:r>
                    </a:p>
                  </a:txBody>
                  <a:tcPr marL="91440" marR="54864" anchor="ctr">
                    <a:solidFill>
                      <a:srgbClr val="F0FDFA"/>
                    </a:solidFill>
                  </a:tcPr>
                </a:tc>
                <a:tc>
                  <a:txBody>
                    <a:bodyPr/>
                    <a:lstStyle/>
                    <a:p>
                      <a:pPr>
                        <a:defRPr sz="1300" b="0">
                          <a:solidFill>
                            <a:srgbClr val="1E293B"/>
                          </a:solidFill>
                          <a:latin typeface="Aptos"/>
                        </a:defRPr>
                      </a:pPr>
                      <a:r>
                        <a:t>82 / 1 / 1</a:t>
                      </a:r>
                    </a:p>
                  </a:txBody>
                  <a:tcPr marL="91440" marR="54864" anchor="ctr">
                    <a:solidFill>
                      <a:srgbClr val="F0FDFA"/>
                    </a:solidFill>
                  </a:tcPr>
                </a:tc>
                <a:tc>
                  <a:txBody>
                    <a:bodyPr/>
                    <a:lstStyle/>
                    <a:p>
                      <a:pPr>
                        <a:defRPr sz="1300" b="0">
                          <a:solidFill>
                            <a:srgbClr val="1E293B"/>
                          </a:solidFill>
                          <a:latin typeface="Aptos"/>
                        </a:defRPr>
                      </a:pPr>
                      <a:r>
                        <a:t>3 verified</a:t>
                      </a:r>
                    </a:p>
                  </a:txBody>
                  <a:tcPr marL="91440" marR="54864" anchor="ctr">
                    <a:solidFill>
                      <a:srgbClr val="F0FDFA"/>
                    </a:solidFill>
                  </a:tcPr>
                </a:tc>
              </a:tr>
              <a:tr h="617220">
                <a:tc>
                  <a:txBody>
                    <a:bodyPr/>
                    <a:lstStyle/>
                    <a:p>
                      <a:pPr>
                        <a:defRPr sz="1300" b="0">
                          <a:solidFill>
                            <a:srgbClr val="1E293B"/>
                          </a:solidFill>
                          <a:latin typeface="Aptos"/>
                        </a:defRPr>
                      </a:pPr>
                      <a:r>
                        <a:t>sample_inventory.py</a:t>
                      </a:r>
                    </a:p>
                  </a:txBody>
                  <a:tcPr marL="91440" marR="54864" anchor="ctr">
                    <a:solidFill>
                      <a:srgbClr val="FFFFFF"/>
                    </a:solidFill>
                  </a:tcPr>
                </a:tc>
                <a:tc>
                  <a:txBody>
                    <a:bodyPr/>
                    <a:lstStyle/>
                    <a:p>
                      <a:pPr>
                        <a:defRPr sz="1300" b="0">
                          <a:solidFill>
                            <a:srgbClr val="1E293B"/>
                          </a:solidFill>
                          <a:latin typeface="Aptos"/>
                        </a:defRPr>
                      </a:pPr>
                      <a:r>
                        <a:t>135</a:t>
                      </a:r>
                    </a:p>
                  </a:txBody>
                  <a:tcPr marL="91440" marR="54864" anchor="ctr">
                    <a:solidFill>
                      <a:srgbClr val="FFFFFF"/>
                    </a:solidFill>
                  </a:tcPr>
                </a:tc>
                <a:tc>
                  <a:txBody>
                    <a:bodyPr/>
                    <a:lstStyle/>
                    <a:p>
                      <a:pPr>
                        <a:defRPr sz="1300" b="0">
                          <a:solidFill>
                            <a:srgbClr val="1E293B"/>
                          </a:solidFill>
                          <a:latin typeface="Aptos"/>
                        </a:defRPr>
                      </a:pPr>
                      <a:r>
                        <a:t>123 / 9 / 3</a:t>
                      </a:r>
                    </a:p>
                  </a:txBody>
                  <a:tcPr marL="91440" marR="54864" anchor="ctr">
                    <a:solidFill>
                      <a:srgbClr val="FFFFFF"/>
                    </a:solidFill>
                  </a:tcPr>
                </a:tc>
                <a:tc>
                  <a:txBody>
                    <a:bodyPr/>
                    <a:lstStyle/>
                    <a:p>
                      <a:pPr>
                        <a:defRPr sz="1300" b="0">
                          <a:solidFill>
                            <a:srgbClr val="1E293B"/>
                          </a:solidFill>
                          <a:latin typeface="Aptos"/>
                        </a:defRPr>
                      </a:pPr>
                      <a:r>
                        <a:t>131 / 1 / 3</a:t>
                      </a:r>
                    </a:p>
                  </a:txBody>
                  <a:tcPr marL="91440" marR="54864" anchor="ctr">
                    <a:solidFill>
                      <a:srgbClr val="FFFFFF"/>
                    </a:solidFill>
                  </a:tcPr>
                </a:tc>
                <a:tc>
                  <a:txBody>
                    <a:bodyPr/>
                    <a:lstStyle/>
                    <a:p>
                      <a:pPr>
                        <a:defRPr sz="1300" b="0">
                          <a:solidFill>
                            <a:srgbClr val="1E293B"/>
                          </a:solidFill>
                          <a:latin typeface="Aptos"/>
                        </a:defRPr>
                      </a:pPr>
                      <a:r>
                        <a:t>7 verified</a:t>
                      </a:r>
                    </a:p>
                  </a:txBody>
                  <a:tcPr marL="91440" marR="54864" anchor="ctr">
                    <a:solidFill>
                      <a:srgbClr val="FFFFFF"/>
                    </a:solidFill>
                  </a:tcPr>
                </a:tc>
              </a:tr>
              <a:tr h="617220">
                <a:tc>
                  <a:txBody>
                    <a:bodyPr/>
                    <a:lstStyle/>
                    <a:p>
                      <a:pPr>
                        <a:defRPr sz="1300" b="0">
                          <a:solidFill>
                            <a:srgbClr val="1E293B"/>
                          </a:solidFill>
                          <a:latin typeface="Aptos"/>
                        </a:defRPr>
                      </a:pPr>
                      <a:r>
                        <a:t>sample_shop.py</a:t>
                      </a:r>
                    </a:p>
                  </a:txBody>
                  <a:tcPr marL="91440" marR="54864" anchor="ctr">
                    <a:solidFill>
                      <a:srgbClr val="F0FDFA"/>
                    </a:solidFill>
                  </a:tcPr>
                </a:tc>
                <a:tc>
                  <a:txBody>
                    <a:bodyPr/>
                    <a:lstStyle/>
                    <a:p>
                      <a:pPr>
                        <a:defRPr sz="1300" b="0">
                          <a:solidFill>
                            <a:srgbClr val="1E293B"/>
                          </a:solidFill>
                          <a:latin typeface="Aptos"/>
                        </a:defRPr>
                      </a:pPr>
                      <a:r>
                        <a:t>26</a:t>
                      </a:r>
                    </a:p>
                  </a:txBody>
                  <a:tcPr marL="91440" marR="54864" anchor="ctr">
                    <a:solidFill>
                      <a:srgbClr val="F0FDFA"/>
                    </a:solidFill>
                  </a:tcPr>
                </a:tc>
                <a:tc>
                  <a:txBody>
                    <a:bodyPr/>
                    <a:lstStyle/>
                    <a:p>
                      <a:pPr>
                        <a:defRPr sz="1300" b="0">
                          <a:solidFill>
                            <a:srgbClr val="1E293B"/>
                          </a:solidFill>
                          <a:latin typeface="Aptos"/>
                        </a:defRPr>
                      </a:pPr>
                      <a:r>
                        <a:t>23 / 3 / 0</a:t>
                      </a:r>
                    </a:p>
                  </a:txBody>
                  <a:tcPr marL="91440" marR="54864" anchor="ctr">
                    <a:solidFill>
                      <a:srgbClr val="F0FDFA"/>
                    </a:solidFill>
                  </a:tcPr>
                </a:tc>
                <a:tc>
                  <a:txBody>
                    <a:bodyPr/>
                    <a:lstStyle/>
                    <a:p>
                      <a:pPr>
                        <a:defRPr sz="1300" b="0">
                          <a:solidFill>
                            <a:srgbClr val="1E293B"/>
                          </a:solidFill>
                          <a:latin typeface="Aptos"/>
                        </a:defRPr>
                      </a:pPr>
                      <a:r>
                        <a:t>26 / 0 / 0</a:t>
                      </a:r>
                    </a:p>
                  </a:txBody>
                  <a:tcPr marL="91440" marR="54864" anchor="ctr">
                    <a:solidFill>
                      <a:srgbClr val="F0FDFA"/>
                    </a:solidFill>
                  </a:tcPr>
                </a:tc>
                <a:tc>
                  <a:txBody>
                    <a:bodyPr/>
                    <a:lstStyle/>
                    <a:p>
                      <a:pPr>
                        <a:defRPr sz="1300" b="0">
                          <a:solidFill>
                            <a:srgbClr val="1E293B"/>
                          </a:solidFill>
                          <a:latin typeface="Aptos"/>
                        </a:defRPr>
                      </a:pPr>
                      <a:r>
                        <a:t>2 verified</a:t>
                      </a:r>
                    </a:p>
                  </a:txBody>
                  <a:tcPr marL="91440" marR="54864" anchor="ctr">
                    <a:solidFill>
                      <a:srgbClr val="F0FDFA"/>
                    </a:solidFill>
                  </a:tcPr>
                </a:tc>
              </a:tr>
            </a:tbl>
          </a:graphicData>
        </a:graphic>
      </p:graphicFrame>
      <p:sp>
        <p:nvSpPr>
          <p:cNvPr id="7" name="TextBox 6"/>
          <p:cNvSpPr txBox="1"/>
          <p:nvPr/>
        </p:nvSpPr>
        <p:spPr>
          <a:xfrm>
            <a:off x="868680" y="4526280"/>
            <a:ext cx="10058400" cy="384048"/>
          </a:xfrm>
          <a:prstGeom prst="rect">
            <a:avLst/>
          </a:prstGeom>
          <a:noFill/>
        </p:spPr>
        <p:txBody>
          <a:bodyPr wrap="square" lIns="27432" rIns="27432" tIns="18288" bIns="9144">
            <a:spAutoFit/>
          </a:bodyPr>
          <a:lstStyle/>
          <a:p>
            <a:pPr>
              <a:spcAft>
                <a:spcPts val="900"/>
              </a:spcAft>
              <a:defRPr sz="1800" b="1">
                <a:solidFill>
                  <a:srgbClr val="0D9488"/>
                </a:solidFill>
                <a:latin typeface="Aptos"/>
              </a:defRPr>
            </a:pPr>
            <a:r>
              <a:t>Total: 245 cases · passing 223 → 239 · 12 accepted fixes · 0 regressions</a:t>
            </a:r>
          </a:p>
        </p:txBody>
      </p:sp>
      <p:sp>
        <p:nvSpPr>
          <p:cNvPr id="8" name="TextBox 7"/>
          <p:cNvSpPr txBox="1"/>
          <p:nvPr/>
        </p:nvSpPr>
        <p:spPr>
          <a:xfrm>
            <a:off x="868680" y="5166360"/>
            <a:ext cx="10332720" cy="640080"/>
          </a:xfrm>
          <a:prstGeom prst="rect">
            <a:avLst/>
          </a:prstGeom>
          <a:noFill/>
        </p:spPr>
        <p:txBody>
          <a:bodyPr wrap="square" lIns="27432" rIns="27432" tIns="18288" bIns="9144">
            <a:spAutoFit/>
          </a:bodyPr>
          <a:lstStyle/>
          <a:p>
            <a:pPr>
              <a:spcAft>
                <a:spcPts val="900"/>
              </a:spcAft>
              <a:defRPr sz="1300" b="0">
                <a:solidFill>
                  <a:srgbClr val="475569"/>
                </a:solidFill>
                <a:latin typeface="Aptos"/>
              </a:defRPr>
            </a:pPr>
            <a:r>
              <a:t>Local trusted execution · deterministic engine · three planted-bug samples · 2 failures + 4 errors remained</a:t>
            </a:r>
          </a:p>
        </p:txBody>
      </p:sp>
      <p:sp>
        <p:nvSpPr>
          <p:cNvPr id="9" name="TextBox 8"/>
          <p:cNvSpPr txBox="1"/>
          <p:nvPr/>
        </p:nvSpPr>
        <p:spPr>
          <a:xfrm>
            <a:off x="868680" y="5742432"/>
            <a:ext cx="10332720" cy="411480"/>
          </a:xfrm>
          <a:prstGeom prst="rect">
            <a:avLst/>
          </a:prstGeom>
          <a:noFill/>
        </p:spPr>
        <p:txBody>
          <a:bodyPr wrap="square" lIns="27432" rIns="27432" tIns="18288" bIns="9144">
            <a:spAutoFit/>
          </a:bodyPr>
          <a:lstStyle/>
          <a:p>
            <a:pPr>
              <a:spcAft>
                <a:spcPts val="900"/>
              </a:spcAft>
              <a:defRPr sz="1200" b="0">
                <a:solidFill>
                  <a:srgbClr val="1E293B"/>
                </a:solidFill>
                <a:latin typeface="Aptos"/>
              </a:defRPr>
            </a:pPr>
            <a:r>
              <a:t>Future scope: larger corpus · Docker evaluation · CI feedback · optional MCP / LangGraph exploration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256032"/>
            <a:ext cx="9601200" cy="256032"/>
          </a:xfrm>
          <a:prstGeom prst="rect">
            <a:avLst/>
          </a:prstGeom>
          <a:noFill/>
        </p:spPr>
        <p:txBody>
          <a:bodyPr wrap="square" lIns="27432" rIns="27432" tIns="18288" bIns="9144">
            <a:spAutoFit/>
          </a:bodyPr>
          <a:lstStyle/>
          <a:p>
            <a:pPr>
              <a:spcAft>
                <a:spcPts val="900"/>
              </a:spcAft>
              <a:defRPr sz="1000" b="1">
                <a:solidFill>
                  <a:srgbClr val="0D9488"/>
                </a:solidFill>
                <a:latin typeface="Aptos"/>
              </a:defRPr>
            </a:pPr>
            <a:r>
              <a:t>CONCLUSION AND NEXT STEPS</a:t>
            </a:r>
          </a:p>
        </p:txBody>
      </p:sp>
      <p:sp>
        <p:nvSpPr>
          <p:cNvPr id="3" name="TextBox 2"/>
          <p:cNvSpPr txBox="1"/>
          <p:nvPr/>
        </p:nvSpPr>
        <p:spPr>
          <a:xfrm>
            <a:off x="566928" y="576072"/>
            <a:ext cx="10972800" cy="594360"/>
          </a:xfrm>
          <a:prstGeom prst="rect">
            <a:avLst/>
          </a:prstGeom>
          <a:noFill/>
        </p:spPr>
        <p:txBody>
          <a:bodyPr wrap="square" lIns="27432" rIns="27432" tIns="18288" bIns="9144">
            <a:spAutoFit/>
          </a:bodyPr>
          <a:lstStyle/>
          <a:p>
            <a:pPr>
              <a:spcAft>
                <a:spcPts val="900"/>
              </a:spcAft>
              <a:defRPr sz="2800" b="1">
                <a:solidFill>
                  <a:srgbClr val="0F172A"/>
                </a:solidFill>
                <a:latin typeface="Aptos"/>
              </a:defRPr>
            </a:pPr>
            <a:r>
              <a:t>Evidence-led testing, with clear limits</a:t>
            </a:r>
          </a:p>
        </p:txBody>
      </p:sp>
      <p:sp>
        <p:nvSpPr>
          <p:cNvPr id="4" name="Rectangle 3"/>
          <p:cNvSpPr/>
          <p:nvPr/>
        </p:nvSpPr>
        <p:spPr>
          <a:xfrm>
            <a:off x="566928" y="1280160"/>
            <a:ext cx="1101852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0" y="6510528"/>
            <a:ext cx="411480" cy="182880"/>
          </a:xfrm>
          <a:prstGeom prst="rect">
            <a:avLst/>
          </a:prstGeom>
          <a:noFill/>
        </p:spPr>
        <p:txBody>
          <a:bodyPr wrap="square" lIns="27432" rIns="27432" tIns="18288" bIns="9144">
            <a:spAutoFit/>
          </a:bodyPr>
          <a:lstStyle/>
          <a:p>
            <a:pPr algn="r">
              <a:spcAft>
                <a:spcPts val="900"/>
              </a:spcAft>
              <a:defRPr sz="900" b="1">
                <a:solidFill>
                  <a:srgbClr val="475569"/>
                </a:solidFill>
                <a:latin typeface="Aptos"/>
              </a:defRPr>
            </a:pPr>
            <a:r>
              <a:t>08</a:t>
            </a:r>
          </a:p>
        </p:txBody>
      </p:sp>
      <p:sp>
        <p:nvSpPr>
          <p:cNvPr id="6" name="Rounded Rectangle 5"/>
          <p:cNvSpPr/>
          <p:nvPr/>
        </p:nvSpPr>
        <p:spPr>
          <a:xfrm>
            <a:off x="777240" y="1737360"/>
            <a:ext cx="6583680" cy="4023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039112"/>
            <a:ext cx="5852160" cy="411480"/>
          </a:xfrm>
          <a:prstGeom prst="rect">
            <a:avLst/>
          </a:prstGeom>
          <a:noFill/>
        </p:spPr>
        <p:txBody>
          <a:bodyPr wrap="square" lIns="27432" rIns="27432" tIns="18288" bIns="9144">
            <a:spAutoFit/>
          </a:bodyPr>
          <a:lstStyle/>
          <a:p>
            <a:pPr>
              <a:spcAft>
                <a:spcPts val="900"/>
              </a:spcAft>
              <a:defRPr sz="2000" b="1">
                <a:solidFill>
                  <a:srgbClr val="0F172A"/>
                </a:solidFill>
                <a:latin typeface="Aptos"/>
              </a:defRPr>
            </a:pPr>
            <a:r>
              <a:t>What the system demonstrates</a:t>
            </a:r>
          </a:p>
        </p:txBody>
      </p:sp>
      <p:sp>
        <p:nvSpPr>
          <p:cNvPr id="8" name="TextBox 7"/>
          <p:cNvSpPr txBox="1"/>
          <p:nvPr/>
        </p:nvSpPr>
        <p:spPr>
          <a:xfrm>
            <a:off x="1115568" y="2697480"/>
            <a:ext cx="5806440" cy="2057400"/>
          </a:xfrm>
          <a:prstGeom prst="rect">
            <a:avLst/>
          </a:prstGeom>
          <a:noFill/>
        </p:spPr>
        <p:txBody>
          <a:bodyPr wrap="square" lIns="27432" rIns="27432" tIns="18288" bIns="9144">
            <a:spAutoFit/>
          </a:bodyPr>
          <a:lstStyle/>
          <a:p>
            <a:pPr>
              <a:spcAft>
                <a:spcPts val="900"/>
              </a:spcAft>
              <a:defRPr sz="1800" b="0">
                <a:solidFill>
                  <a:srgbClr val="1E293B"/>
                </a:solidFill>
                <a:latin typeface="Aptos"/>
              </a:defRPr>
            </a:pPr>
            <a:r>
              <a:t>• Coordinated, bounded agent workflow</a:t>
            </a:r>
          </a:p>
          <a:p>
            <a:pPr>
              <a:spcAft>
                <a:spcPts val="900"/>
              </a:spcAft>
              <a:defRPr sz="1800" b="0">
                <a:solidFill>
                  <a:srgbClr val="1E293B"/>
                </a:solidFill>
                <a:latin typeface="Aptos"/>
              </a:defRPr>
            </a:pPr>
            <a:r>
              <a:t>• Confirmed and heuristic evidence labeled</a:t>
            </a:r>
          </a:p>
          <a:p>
            <a:pPr>
              <a:spcAft>
                <a:spcPts val="900"/>
              </a:spcAft>
              <a:defRPr sz="1800" b="0">
                <a:solidFill>
                  <a:srgbClr val="1E293B"/>
                </a:solidFill>
                <a:latin typeface="Aptos"/>
              </a:defRPr>
            </a:pPr>
            <a:r>
              <a:t>• Fixes re-tested before acceptance</a:t>
            </a:r>
          </a:p>
          <a:p>
            <a:pPr>
              <a:spcAft>
                <a:spcPts val="900"/>
              </a:spcAft>
              <a:defRPr sz="1800" b="0">
                <a:solidFill>
                  <a:srgbClr val="1E293B"/>
                </a:solidFill>
                <a:latin typeface="Aptos"/>
              </a:defRPr>
            </a:pPr>
            <a:r>
              <a:t>• API, frontend, and browser journey verified</a:t>
            </a:r>
          </a:p>
        </p:txBody>
      </p:sp>
      <p:sp>
        <p:nvSpPr>
          <p:cNvPr id="9" name="Rounded Rectangle 8"/>
          <p:cNvSpPr/>
          <p:nvPr/>
        </p:nvSpPr>
        <p:spPr>
          <a:xfrm>
            <a:off x="7726679" y="1737360"/>
            <a:ext cx="3611880" cy="4023360"/>
          </a:xfrm>
          <a:prstGeom prst="roundRect">
            <a:avLst>
              <a:gd name="adj" fmla="val 12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39112"/>
            <a:ext cx="2926080" cy="411480"/>
          </a:xfrm>
          <a:prstGeom prst="rect">
            <a:avLst/>
          </a:prstGeom>
          <a:noFill/>
        </p:spPr>
        <p:txBody>
          <a:bodyPr wrap="square" lIns="27432" rIns="27432" tIns="18288" bIns="9144">
            <a:spAutoFit/>
          </a:bodyPr>
          <a:lstStyle/>
          <a:p>
            <a:pPr>
              <a:spcAft>
                <a:spcPts val="900"/>
              </a:spcAft>
              <a:defRPr sz="2000" b="1">
                <a:solidFill>
                  <a:srgbClr val="0F172A"/>
                </a:solidFill>
                <a:latin typeface="Aptos"/>
              </a:defRPr>
            </a:pPr>
            <a:r>
              <a:t>Next</a:t>
            </a:r>
          </a:p>
        </p:txBody>
      </p:sp>
      <p:sp>
        <p:nvSpPr>
          <p:cNvPr id="11" name="TextBox 10"/>
          <p:cNvSpPr txBox="1"/>
          <p:nvPr/>
        </p:nvSpPr>
        <p:spPr>
          <a:xfrm>
            <a:off x="8046720" y="2697480"/>
            <a:ext cx="2834640" cy="2011680"/>
          </a:xfrm>
          <a:prstGeom prst="rect">
            <a:avLst/>
          </a:prstGeom>
          <a:noFill/>
        </p:spPr>
        <p:txBody>
          <a:bodyPr wrap="square" lIns="27432" rIns="27432" tIns="18288" bIns="9144">
            <a:spAutoFit/>
          </a:bodyPr>
          <a:lstStyle/>
          <a:p>
            <a:pPr>
              <a:spcAft>
                <a:spcPts val="900"/>
              </a:spcAft>
              <a:defRPr sz="1700" b="0">
                <a:solidFill>
                  <a:srgbClr val="1E293B"/>
                </a:solidFill>
                <a:latin typeface="Aptos"/>
              </a:defRPr>
            </a:pPr>
            <a:r>
              <a:t>Broaden sample corpus</a:t>
            </a:r>
          </a:p>
          <a:p>
            <a:pPr>
              <a:spcAft>
                <a:spcPts val="900"/>
              </a:spcAft>
              <a:defRPr sz="1700" b="0">
                <a:solidFill>
                  <a:srgbClr val="1E293B"/>
                </a:solidFill>
                <a:latin typeface="Aptos"/>
              </a:defRPr>
            </a:pPr>
            <a:r>
              <a:t>Add isolated execution coverage</a:t>
            </a:r>
          </a:p>
          <a:p>
            <a:pPr>
              <a:spcAft>
                <a:spcPts val="900"/>
              </a:spcAft>
              <a:defRPr sz="1700" b="0">
                <a:solidFill>
                  <a:srgbClr val="1E293B"/>
                </a:solidFill>
                <a:latin typeface="Aptos"/>
              </a:defRPr>
            </a:pPr>
            <a:r>
              <a:t>Measure across independent modules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